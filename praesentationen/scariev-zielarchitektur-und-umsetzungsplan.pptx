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5fc7b71f554d43" /><Relationship Type="http://schemas.openxmlformats.org/officeDocument/2006/relationships/extended-properties" Target="/docProps/app.xml" Id="R3f95cc8363a34564" /><Relationship Type="http://schemas.openxmlformats.org/officeDocument/2006/relationships/officeDocument" Target="/ppt/presentation.xml" Id="R4b3af51e915443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847312c7d54546"/>
  </p:sldMasterIdLst>
  <p:notesMasterIdLst>
    <p:notesMasterId xmlns:r="http://schemas.openxmlformats.org/officeDocument/2006/relationships" r:id="Rdd466ce4348b4251"/>
  </p:notesMasterIdLst>
  <p:sldIdLst>
    <p:sldId xmlns:r="http://schemas.openxmlformats.org/officeDocument/2006/relationships" id="256" r:id="R06356aa7db524417"/>
    <p:sldId xmlns:r="http://schemas.openxmlformats.org/officeDocument/2006/relationships" id="257" r:id="R317ae2f8a4ac4f6f"/>
    <p:sldId xmlns:r="http://schemas.openxmlformats.org/officeDocument/2006/relationships" id="258" r:id="Ra48b545f434f44e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06746923724ffc" /><Relationship Type="http://schemas.openxmlformats.org/officeDocument/2006/relationships/slideMaster" Target="/ppt/slideMasters/slideMaster1.xml" Id="Re8847312c7d54546" /><Relationship Type="http://schemas.openxmlformats.org/officeDocument/2006/relationships/notesMaster" Target="/ppt/notesMasters/notesMaster1.xml" Id="Rdd466ce4348b4251" /><Relationship Type="http://schemas.openxmlformats.org/officeDocument/2006/relationships/presProps" Target="/ppt/presProps.xml" Id="R700956ae0db543f8" /><Relationship Type="http://schemas.openxmlformats.org/officeDocument/2006/relationships/tableStyles" Target="/ppt/tableStyles.xml" Id="R041890fbf20146da" /><Relationship Type="http://schemas.openxmlformats.org/officeDocument/2006/relationships/slide" Target="/ppt/slides/slide1.xml" Id="R06356aa7db524417" /><Relationship Type="http://schemas.openxmlformats.org/officeDocument/2006/relationships/slide" Target="/ppt/slides/slide2.xml" Id="R317ae2f8a4ac4f6f" /><Relationship Type="http://schemas.openxmlformats.org/officeDocument/2006/relationships/slide" Target="/ppt/slides/slide3.xml" Id="Ra48b545f434f44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a44e470bd547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7cfaf9f2ff4d5e" /><Relationship Type="http://schemas.openxmlformats.org/officeDocument/2006/relationships/notesMaster" Target="/ppt/notesMasters/notesMaster1.xml" Id="Rf99c803f733f40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9a61f895e5430b" /><Relationship Type="http://schemas.openxmlformats.org/officeDocument/2006/relationships/notesMaster" Target="/ppt/notesMasters/notesMaster1.xml" Id="R59a4420814c941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ab9e862ea54051" /><Relationship Type="http://schemas.openxmlformats.org/officeDocument/2006/relationships/notesMaster" Target="/ppt/notesMasters/notesMaster1.xml" Id="R44d921f1dec248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862bf7910442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399a1fd6f04680" /><Relationship Type="http://schemas.openxmlformats.org/officeDocument/2006/relationships/slideLayout" Target="/ppt/slideLayouts/slideLayout1.xml" Id="R411101ced5bd45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1101ced5bd45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c024006d84a26" /><Relationship Type="http://schemas.openxmlformats.org/officeDocument/2006/relationships/notesSlide" Target="/ppt/notesSlides/notesSlide1.xml" Id="Rb9248ae7961542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8cc45adf243df" /><Relationship Type="http://schemas.openxmlformats.org/officeDocument/2006/relationships/notesSlide" Target="/ppt/notesSlides/notesSlide2.xml" Id="Rebbdb4bf079949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6aa4345974d37" /><Relationship Type="http://schemas.openxmlformats.org/officeDocument/2006/relationships/notesSlide" Target="/ppt/notesSlides/notesSlide3.xml" Id="R30ed67e2e36f49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5290702D-B0CD-411E-940C-6FF78FE2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54292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9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Ein modularer Monolith deckt Start und Wachstum ab</a:t>
            </a:r>
          </a:p>
        </p:txBody>
      </p:sp>
      <p:sp>
        <p:nvSpPr>
          <p:cNvPr id="2" name="slide-1-summary">
            <a:extLst xmlns:a="http://schemas.openxmlformats.org/drawingml/2006/main">
              <a:ext uri="{FF2B5EF4-FFF2-40B4-BE49-F238E27FC236}">
                <a16:creationId xmlns:a16="http://schemas.microsoft.com/office/drawing/2014/main" id="{21EA042C-0743-432B-90A4-083E5665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47850"/>
            <a:ext cx="52197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Eine Codebasis für Lernende, Administration und API – klar modularisiert und horizontal skalierbar.</a:t>
            </a:r>
          </a:p>
        </p:txBody>
      </p:sp>
      <p:sp>
        <p:nvSpPr>
          <p:cNvPr id="3" name="slide-1-stat-peak">
            <a:extLst xmlns:a="http://schemas.openxmlformats.org/drawingml/2006/main">
              <a:ext uri="{FF2B5EF4-FFF2-40B4-BE49-F238E27FC236}">
                <a16:creationId xmlns:a16="http://schemas.microsoft.com/office/drawing/2014/main" id="{2BCF2164-BF75-4D99-852F-03C10201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19450"/>
            <a:ext cx="1714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3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2.000</a:t>
            </a:r>
          </a:p>
        </p:txBody>
      </p:sp>
      <p:sp>
        <p:nvSpPr>
          <p:cNvPr id="4" name="slide-1-stat-peak-label">
            <a:extLst xmlns:a="http://schemas.openxmlformats.org/drawingml/2006/main">
              <a:ext uri="{FF2B5EF4-FFF2-40B4-BE49-F238E27FC236}">
                <a16:creationId xmlns:a16="http://schemas.microsoft.com/office/drawing/2014/main" id="{7F1B7660-1483-454C-BD07-2C0DA7AD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528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gleichzeitig aktive Lernende</a:t>
            </a:r>
          </a:p>
        </p:txBody>
      </p:sp>
      <p:sp>
        <p:nvSpPr>
          <p:cNvPr id="5" name="slide-1-stat-total">
            <a:extLst xmlns:a="http://schemas.openxmlformats.org/drawingml/2006/main">
              <a:ext uri="{FF2B5EF4-FFF2-40B4-BE49-F238E27FC236}">
                <a16:creationId xmlns:a16="http://schemas.microsoft.com/office/drawing/2014/main" id="{E8BFF83D-8E21-44D1-9DFE-363F1CE2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19450"/>
            <a:ext cx="1809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10.000</a:t>
            </a:r>
          </a:p>
        </p:txBody>
      </p:sp>
      <p:sp>
        <p:nvSpPr>
          <p:cNvPr id="6" name="slide-1-stat-total-label">
            <a:extLst xmlns:a="http://schemas.openxmlformats.org/drawingml/2006/main">
              <a:ext uri="{FF2B5EF4-FFF2-40B4-BE49-F238E27FC236}">
                <a16:creationId xmlns:a16="http://schemas.microsoft.com/office/drawing/2014/main" id="{44D7F5C9-A2CB-458B-9359-857F70CB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52850"/>
            <a:ext cx="26193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registrierte Nutzer als Zielgröße</a:t>
            </a:r>
          </a:p>
        </p:txBody>
      </p:sp>
      <p:sp>
        <p:nvSpPr>
          <p:cNvPr id="7" name="slide-1-accent-rule">
            <a:extLst xmlns:a="http://schemas.openxmlformats.org/drawingml/2006/main">
              <a:ext uri="{FF2B5EF4-FFF2-40B4-BE49-F238E27FC236}">
                <a16:creationId xmlns:a16="http://schemas.microsoft.com/office/drawing/2014/main" id="{5EC894E6-98CB-4679-A151-FD504E69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339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8" name="slide-1-tech">
            <a:extLst xmlns:a="http://schemas.openxmlformats.org/drawingml/2006/main">
              <a:ext uri="{FF2B5EF4-FFF2-40B4-BE49-F238E27FC236}">
                <a16:creationId xmlns:a16="http://schemas.microsoft.com/office/drawing/2014/main" id="{836F19DC-83DD-4255-ABF9-FB04CDF7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43500"/>
            <a:ext cx="533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Next.js · TypeScript · PostgreSQL · AWS EU</a:t>
            </a:r>
          </a:p>
        </p:txBody>
      </p:sp>
      <p:sp>
        <p:nvSpPr>
          <p:cNvPr id="9" name="slide-1-tech-2">
            <a:extLst xmlns:a="http://schemas.openxmlformats.org/drawingml/2006/main">
              <a:ext uri="{FF2B5EF4-FFF2-40B4-BE49-F238E27FC236}">
                <a16:creationId xmlns:a16="http://schemas.microsoft.com/office/drawing/2014/main" id="{84BE19E2-C266-4649-95F7-998DAE10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86400"/>
            <a:ext cx="533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S3/CDN · Warteschlange · strukturierte Überwachung</a:t>
            </a:r>
          </a:p>
        </p:txBody>
      </p:sp>
      <p:sp>
        <p:nvSpPr>
          <p:cNvPr id="10" name="architecture-field">
            <a:extLst xmlns:a="http://schemas.openxmlformats.org/drawingml/2006/main">
              <a:ext uri="{FF2B5EF4-FFF2-40B4-BE49-F238E27FC236}">
                <a16:creationId xmlns:a16="http://schemas.microsoft.com/office/drawing/2014/main" id="{495B356B-8A25-48FC-88C3-EA72F3CE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137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55" name="users-to-bus"/>
          <p:cNvCxnSpPr/>
          <p:nvPr/>
        </p:nvCxnSpPr>
        <p:spPr>
          <a:xfrm xmlns:a="http://schemas.openxmlformats.org/drawingml/2006/main">
            <a:off x="7286625" y="1257300"/>
            <a:ext cx="953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56" name="admin-to-bus"/>
          <p:cNvCxnSpPr/>
          <p:nvPr/>
        </p:nvCxnSpPr>
        <p:spPr>
          <a:xfrm xmlns:a="http://schemas.openxmlformats.org/drawingml/2006/main">
            <a:off x="10715625" y="1257300"/>
            <a:ext cx="953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57" name="top-bus"/>
          <p:cNvCxnSpPr/>
          <p:nvPr/>
        </p:nvCxnSpPr>
        <p:spPr>
          <a:xfrm xmlns:a="http://schemas.openxmlformats.org/drawingml/2006/main">
            <a:off x="7286625" y="1428750"/>
            <a:ext cx="3429000" cy="95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58" name="bus-to-edge"/>
          <p:cNvCxnSpPr/>
          <p:nvPr/>
        </p:nvCxnSpPr>
        <p:spPr>
          <a:xfrm xmlns:a="http://schemas.openxmlformats.org/drawingml/2006/main">
            <a:off x="9001125" y="1428750"/>
            <a:ext cx="953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59" name="edge-to-platform"/>
          <p:cNvCxnSpPr/>
          <p:nvPr/>
        </p:nvCxnSpPr>
        <p:spPr>
          <a:xfrm xmlns:a="http://schemas.openxmlformats.org/drawingml/2006/main">
            <a:off x="9001125" y="2114550"/>
            <a:ext cx="953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60" name="oidc-to-platform"/>
          <p:cNvCxnSpPr/>
          <p:nvPr/>
        </p:nvCxnSpPr>
        <p:spPr>
          <a:xfrm xmlns:a="http://schemas.openxmlformats.org/drawingml/2006/main">
            <a:off x="7524750" y="3000375"/>
            <a:ext cx="190500" cy="95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61" name="platform-to-ops"/>
          <p:cNvCxnSpPr/>
          <p:nvPr/>
        </p:nvCxnSpPr>
        <p:spPr>
          <a:xfrm xmlns:a="http://schemas.openxmlformats.org/drawingml/2006/main">
            <a:off x="10287000" y="3000375"/>
            <a:ext cx="238125" cy="95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62" name="platform-to-data-bus"/>
          <p:cNvCxnSpPr/>
          <p:nvPr/>
        </p:nvCxnSpPr>
        <p:spPr>
          <a:xfrm xmlns:a="http://schemas.openxmlformats.org/drawingml/2006/main">
            <a:off x="9001125" y="3390900"/>
            <a:ext cx="953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63" name="data-bus"/>
          <p:cNvCxnSpPr/>
          <p:nvPr/>
        </p:nvCxnSpPr>
        <p:spPr>
          <a:xfrm xmlns:a="http://schemas.openxmlformats.org/drawingml/2006/main">
            <a:off x="7191375" y="3810000"/>
            <a:ext cx="3619500" cy="95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64" name="bus-to-db"/>
          <p:cNvCxnSpPr/>
          <p:nvPr/>
        </p:nvCxnSpPr>
        <p:spPr>
          <a:xfrm xmlns:a="http://schemas.openxmlformats.org/drawingml/2006/main">
            <a:off x="7191375" y="3810000"/>
            <a:ext cx="953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65" name="bus-to-storage"/>
          <p:cNvCxnSpPr/>
          <p:nvPr/>
        </p:nvCxnSpPr>
        <p:spPr>
          <a:xfrm xmlns:a="http://schemas.openxmlformats.org/drawingml/2006/main">
            <a:off x="9001125" y="3810000"/>
            <a:ext cx="953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66" name="bus-to-worker"/>
          <p:cNvCxnSpPr/>
          <p:nvPr/>
        </p:nvCxnSpPr>
        <p:spPr>
          <a:xfrm xmlns:a="http://schemas.openxmlformats.org/drawingml/2006/main">
            <a:off x="10810875" y="3810000"/>
            <a:ext cx="953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sp>
        <p:nvSpPr>
          <p:cNvPr id="23" name="learner-box">
            <a:extLst xmlns:a="http://schemas.openxmlformats.org/drawingml/2006/main">
              <a:ext uri="{FF2B5EF4-FFF2-40B4-BE49-F238E27FC236}">
                <a16:creationId xmlns:a16="http://schemas.microsoft.com/office/drawing/2014/main" id="{82881282-A579-4199-A97D-8C45874E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62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learner-label">
            <a:extLst xmlns:a="http://schemas.openxmlformats.org/drawingml/2006/main">
              <a:ext uri="{FF2B5EF4-FFF2-40B4-BE49-F238E27FC236}">
                <a16:creationId xmlns:a16="http://schemas.microsoft.com/office/drawing/2014/main" id="{0945E7A2-D617-4A4C-B745-D5DFF8EE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800100"/>
            <a:ext cx="1276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Lernende
Mobile Web / PWA</a:t>
            </a:r>
          </a:p>
        </p:txBody>
      </p:sp>
      <p:sp>
        <p:nvSpPr>
          <p:cNvPr id="25" name="admin-box">
            <a:extLst xmlns:a="http://schemas.openxmlformats.org/drawingml/2006/main">
              <a:ext uri="{FF2B5EF4-FFF2-40B4-BE49-F238E27FC236}">
                <a16:creationId xmlns:a16="http://schemas.microsoft.com/office/drawing/2014/main" id="{A1CA4211-FFFD-43E9-8DCD-3B0ECD0C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62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admin-label">
            <a:extLst xmlns:a="http://schemas.openxmlformats.org/drawingml/2006/main">
              <a:ext uri="{FF2B5EF4-FFF2-40B4-BE49-F238E27FC236}">
                <a16:creationId xmlns:a16="http://schemas.microsoft.com/office/drawing/2014/main" id="{F0608EDB-8DAB-4768-BF35-4B1ED983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800100"/>
            <a:ext cx="1276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Administration
MFA + Rollen</a:t>
            </a:r>
          </a:p>
        </p:txBody>
      </p:sp>
      <p:sp>
        <p:nvSpPr>
          <p:cNvPr id="27" name="edge-box">
            <a:extLst xmlns:a="http://schemas.openxmlformats.org/drawingml/2006/main">
              <a:ext uri="{FF2B5EF4-FFF2-40B4-BE49-F238E27FC236}">
                <a16:creationId xmlns:a16="http://schemas.microsoft.com/office/drawing/2014/main" id="{2DFFB5DB-4FD2-4532-A625-46F431EC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1809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edge-label">
            <a:extLst xmlns:a="http://schemas.openxmlformats.org/drawingml/2006/main">
              <a:ext uri="{FF2B5EF4-FFF2-40B4-BE49-F238E27FC236}">
                <a16:creationId xmlns:a16="http://schemas.microsoft.com/office/drawing/2014/main" id="{9E668841-332B-4B80-B41A-8A7CD489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1657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CloudFront + WAF</a:t>
            </a:r>
          </a:p>
        </p:txBody>
      </p:sp>
      <p:sp>
        <p:nvSpPr>
          <p:cNvPr id="29" name="platform-box">
            <a:extLst xmlns:a="http://schemas.openxmlformats.org/drawingml/2006/main">
              <a:ext uri="{FF2B5EF4-FFF2-40B4-BE49-F238E27FC236}">
                <a16:creationId xmlns:a16="http://schemas.microsoft.com/office/drawing/2014/main" id="{5EC2F4F5-A8B9-4B52-A322-61252478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09850"/>
            <a:ext cx="2571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0" name="platform-label">
            <a:extLst xmlns:a="http://schemas.openxmlformats.org/drawingml/2006/main">
              <a:ext uri="{FF2B5EF4-FFF2-40B4-BE49-F238E27FC236}">
                <a16:creationId xmlns:a16="http://schemas.microsoft.com/office/drawing/2014/main" id="{49E7039E-558B-4EB7-AB8C-A7A253F8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47950"/>
            <a:ext cx="24193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Next.js + API
Modularer Monolith</a:t>
            </a:r>
          </a:p>
        </p:txBody>
      </p:sp>
      <p:sp>
        <p:nvSpPr>
          <p:cNvPr id="31" name="oidc-box">
            <a:extLst xmlns:a="http://schemas.openxmlformats.org/drawingml/2006/main">
              <a:ext uri="{FF2B5EF4-FFF2-40B4-BE49-F238E27FC236}">
                <a16:creationId xmlns:a16="http://schemas.microsoft.com/office/drawing/2014/main" id="{939CCCAB-0948-4A37-89E4-62854AF6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oidc-label">
            <a:extLst xmlns:a="http://schemas.openxmlformats.org/drawingml/2006/main">
              <a:ext uri="{FF2B5EF4-FFF2-40B4-BE49-F238E27FC236}">
                <a16:creationId xmlns:a16="http://schemas.microsoft.com/office/drawing/2014/main" id="{1C6814D6-B483-4E37-B3BA-DA049202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62250"/>
            <a:ext cx="895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OIDC
Anmeldung</a:t>
            </a:r>
          </a:p>
        </p:txBody>
      </p:sp>
      <p:sp>
        <p:nvSpPr>
          <p:cNvPr id="33" name="ops-box">
            <a:extLst xmlns:a="http://schemas.openxmlformats.org/drawingml/2006/main">
              <a:ext uri="{FF2B5EF4-FFF2-40B4-BE49-F238E27FC236}">
                <a16:creationId xmlns:a16="http://schemas.microsoft.com/office/drawing/2014/main" id="{AD80F591-816F-445C-89CE-C7EB74BC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7241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ops-label">
            <a:extLst xmlns:a="http://schemas.openxmlformats.org/drawingml/2006/main">
              <a:ext uri="{FF2B5EF4-FFF2-40B4-BE49-F238E27FC236}">
                <a16:creationId xmlns:a16="http://schemas.microsoft.com/office/drawing/2014/main" id="{D1D39E8B-71AA-4A41-AAA2-7A1994D8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762250"/>
            <a:ext cx="895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Protokolle
&amp; Zustand</a:t>
            </a:r>
          </a:p>
        </p:txBody>
      </p:sp>
      <p:sp>
        <p:nvSpPr>
          <p:cNvPr id="35" name="database-box">
            <a:extLst xmlns:a="http://schemas.openxmlformats.org/drawingml/2006/main">
              <a:ext uri="{FF2B5EF4-FFF2-40B4-BE49-F238E27FC236}">
                <a16:creationId xmlns:a16="http://schemas.microsoft.com/office/drawing/2014/main" id="{858C2B4B-C168-4D39-AA23-AA66A377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database-label">
            <a:extLst xmlns:a="http://schemas.openxmlformats.org/drawingml/2006/main">
              <a:ext uri="{FF2B5EF4-FFF2-40B4-BE49-F238E27FC236}">
                <a16:creationId xmlns:a16="http://schemas.microsoft.com/office/drawing/2014/main" id="{8D85D390-BA50-4DE7-9C03-087690BC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33850"/>
            <a:ext cx="12763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PostgreSQL
Daten &amp; Historie</a:t>
            </a:r>
          </a:p>
        </p:txBody>
      </p:sp>
      <p:sp>
        <p:nvSpPr>
          <p:cNvPr id="37" name="storage-box">
            <a:extLst xmlns:a="http://schemas.openxmlformats.org/drawingml/2006/main">
              <a:ext uri="{FF2B5EF4-FFF2-40B4-BE49-F238E27FC236}">
                <a16:creationId xmlns:a16="http://schemas.microsoft.com/office/drawing/2014/main" id="{FEF04B73-D081-4AAA-BF7C-59C2474C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storage-label">
            <a:extLst xmlns:a="http://schemas.openxmlformats.org/drawingml/2006/main">
              <a:ext uri="{FF2B5EF4-FFF2-40B4-BE49-F238E27FC236}">
                <a16:creationId xmlns:a16="http://schemas.microsoft.com/office/drawing/2014/main" id="{000B9E09-52F1-4B5E-A688-088D05A0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33850"/>
            <a:ext cx="12763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S3 + CDN
Bilder &amp; Importe</a:t>
            </a:r>
          </a:p>
        </p:txBody>
      </p:sp>
      <p:sp>
        <p:nvSpPr>
          <p:cNvPr id="39" name="worker-box">
            <a:extLst xmlns:a="http://schemas.openxmlformats.org/drawingml/2006/main">
              <a:ext uri="{FF2B5EF4-FFF2-40B4-BE49-F238E27FC236}">
                <a16:creationId xmlns:a16="http://schemas.microsoft.com/office/drawing/2014/main" id="{3BEB25DE-33CA-4F64-B185-0B1F8673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957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worker-label">
            <a:extLst xmlns:a="http://schemas.openxmlformats.org/drawingml/2006/main">
              <a:ext uri="{FF2B5EF4-FFF2-40B4-BE49-F238E27FC236}">
                <a16:creationId xmlns:a16="http://schemas.microsoft.com/office/drawing/2014/main" id="{448F7D2F-C823-4EA2-A47C-C7172D63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133850"/>
            <a:ext cx="12763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Import &amp; Jobs
im Hintergrund</a:t>
            </a:r>
          </a:p>
        </p:txBody>
      </p:sp>
      <p:sp>
        <p:nvSpPr>
          <p:cNvPr id="41" name="ai-box">
            <a:extLst xmlns:a="http://schemas.openxmlformats.org/drawingml/2006/main">
              <a:ext uri="{FF2B5EF4-FFF2-40B4-BE49-F238E27FC236}">
                <a16:creationId xmlns:a16="http://schemas.microsoft.com/office/drawing/2014/main" id="{E84C827C-7D9D-4622-A250-A410CCCE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1905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ai-label">
            <a:extLst xmlns:a="http://schemas.openxmlformats.org/drawingml/2006/main">
              <a:ext uri="{FF2B5EF4-FFF2-40B4-BE49-F238E27FC236}">
                <a16:creationId xmlns:a16="http://schemas.microsoft.com/office/drawing/2014/main" id="{2FF8016F-24F2-420F-A34C-1E72AA20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257800"/>
            <a:ext cx="1752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SPÄTER
KI-Tutor &amp; Adaptivität</a:t>
            </a:r>
          </a:p>
        </p:txBody>
      </p:sp>
      <p:sp>
        <p:nvSpPr>
          <p:cNvPr id="43" name="source-1">
            <a:extLst xmlns:a="http://schemas.openxmlformats.org/drawingml/2006/main">
              <a:ext uri="{FF2B5EF4-FFF2-40B4-BE49-F238E27FC236}">
                <a16:creationId xmlns:a16="http://schemas.microsoft.com/office/drawing/2014/main" id="{B196F0CF-FE75-47A3-8000-43A4BB32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34125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25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Scariev Lernplattform · Architekturentwurf · 16.07.2026</a:t>
            </a:r>
          </a:p>
        </p:txBody>
      </p:sp>
      <p:sp>
        <p:nvSpPr>
          <p:cNvPr id="44" name="page-1">
            <a:extLst xmlns:a="http://schemas.openxmlformats.org/drawingml/2006/main">
              <a:ext uri="{FF2B5EF4-FFF2-40B4-BE49-F238E27FC236}">
                <a16:creationId xmlns:a16="http://schemas.microsoft.com/office/drawing/2014/main" id="{7EF55F75-D89B-489B-BDEA-14DE37C3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09798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D4F0B21E-E9F1-4844-B3CA-5B6059DD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Versionierte Inhalte und Administration sichern den Betrieb</a:t>
            </a:r>
          </a:p>
        </p:txBody>
      </p:sp>
      <p:cxnSp>
        <p:nvCxnSpPr>
          <p:cNvPr id="25" name="slide-2-vertical-rule"/>
          <p:cNvCxnSpPr/>
          <p:nvPr/>
        </p:nvCxnSpPr>
        <p:spPr>
          <a:xfrm xmlns:a="http://schemas.openxmlformats.org/drawingml/2006/main">
            <a:off x="6096000" y="1828800"/>
            <a:ext cx="953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6" name="slide-2-horizontal-rule"/>
          <p:cNvCxnSpPr/>
          <p:nvPr/>
        </p:nvCxnSpPr>
        <p:spPr>
          <a:xfrm xmlns:a="http://schemas.openxmlformats.org/drawingml/2006/main">
            <a:off x="390525" y="3829050"/>
            <a:ext cx="11401425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quadrant-1-accent">
            <a:extLst xmlns:a="http://schemas.openxmlformats.org/drawingml/2006/main">
              <a:ext uri="{FF2B5EF4-FFF2-40B4-BE49-F238E27FC236}">
                <a16:creationId xmlns:a16="http://schemas.microsoft.com/office/drawing/2014/main" id="{FE8E4816-3178-4CEA-BFBD-8A2F0EC0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335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quadrant-1-number">
            <a:extLst xmlns:a="http://schemas.openxmlformats.org/drawingml/2006/main">
              <a:ext uri="{FF2B5EF4-FFF2-40B4-BE49-F238E27FC236}">
                <a16:creationId xmlns:a16="http://schemas.microsoft.com/office/drawing/2014/main" id="{E512B375-02C3-4838-8073-9C206010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05000"/>
            <a:ext cx="32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quadrant-1-title">
            <a:extLst xmlns:a="http://schemas.openxmlformats.org/drawingml/2006/main">
              <a:ext uri="{FF2B5EF4-FFF2-40B4-BE49-F238E27FC236}">
                <a16:creationId xmlns:a16="http://schemas.microsoft.com/office/drawing/2014/main" id="{B15F5506-9666-4F20-9705-E94C0015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478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Identität &amp; Zugang</a:t>
            </a:r>
          </a:p>
        </p:txBody>
      </p:sp>
      <p:sp>
        <p:nvSpPr>
          <p:cNvPr id="7" name="quadrant-1-body">
            <a:extLst xmlns:a="http://schemas.openxmlformats.org/drawingml/2006/main">
              <a:ext uri="{FF2B5EF4-FFF2-40B4-BE49-F238E27FC236}">
                <a16:creationId xmlns:a16="http://schemas.microsoft.com/office/drawing/2014/main" id="{054B6823-EA50-41C1-967C-56747A10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86000"/>
            <a:ext cx="4762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UUID und OIDC trennen Konto und Anmeldung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Zugangsfreigabe mit Laufzeit und fester Prüfungsedition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Online-Kauf startet nach Zahlung; Print-Code erzeugt Freigabe</a:t>
            </a:r>
          </a:p>
        </p:txBody>
      </p:sp>
      <p:sp>
        <p:nvSpPr>
          <p:cNvPr id="8" name="quadrant-2-accent">
            <a:extLst xmlns:a="http://schemas.openxmlformats.org/drawingml/2006/main">
              <a:ext uri="{FF2B5EF4-FFF2-40B4-BE49-F238E27FC236}">
                <a16:creationId xmlns:a16="http://schemas.microsoft.com/office/drawing/2014/main" id="{43662B5F-8797-46C4-8605-1443EA61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335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quadrant-2-number">
            <a:extLst xmlns:a="http://schemas.openxmlformats.org/drawingml/2006/main">
              <a:ext uri="{FF2B5EF4-FFF2-40B4-BE49-F238E27FC236}">
                <a16:creationId xmlns:a16="http://schemas.microsoft.com/office/drawing/2014/main" id="{190630A6-A5B7-48B1-ABF6-ED3098BD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05000"/>
            <a:ext cx="32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quadrant-2-title">
            <a:extLst xmlns:a="http://schemas.openxmlformats.org/drawingml/2006/main">
              <a:ext uri="{FF2B5EF4-FFF2-40B4-BE49-F238E27FC236}">
                <a16:creationId xmlns:a16="http://schemas.microsoft.com/office/drawing/2014/main" id="{70112A79-2253-48BD-B931-8F5EEC00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8478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Inhalte &amp; Lernen</a:t>
            </a:r>
          </a:p>
        </p:txBody>
      </p:sp>
      <p:sp>
        <p:nvSpPr>
          <p:cNvPr id="11" name="quadrant-2-body">
            <a:extLst xmlns:a="http://schemas.openxmlformats.org/drawingml/2006/main">
              <a:ext uri="{FF2B5EF4-FFF2-40B4-BE49-F238E27FC236}">
                <a16:creationId xmlns:a16="http://schemas.microsoft.com/office/drawing/2014/main" id="{9068B98B-AFF9-4C99-859A-86D87B28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286000"/>
            <a:ext cx="4762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Frage → unveränderliche Revision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Auslieferung → Antwortversuch → Fortschritt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Lösungen bleiben serverseitig; Historie bleibt prüfbar</a:t>
            </a:r>
          </a:p>
        </p:txBody>
      </p:sp>
      <p:sp>
        <p:nvSpPr>
          <p:cNvPr id="12" name="quadrant-3-accent">
            <a:extLst xmlns:a="http://schemas.openxmlformats.org/drawingml/2006/main">
              <a:ext uri="{FF2B5EF4-FFF2-40B4-BE49-F238E27FC236}">
                <a16:creationId xmlns:a16="http://schemas.microsoft.com/office/drawing/2014/main" id="{CA6DC089-724F-4D07-A78E-B1746771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814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3" name="quadrant-3-number">
            <a:extLst xmlns:a="http://schemas.openxmlformats.org/drawingml/2006/main">
              <a:ext uri="{FF2B5EF4-FFF2-40B4-BE49-F238E27FC236}">
                <a16:creationId xmlns:a16="http://schemas.microsoft.com/office/drawing/2014/main" id="{C445760D-D98F-451C-BDB3-F04822C5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52900"/>
            <a:ext cx="32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quadrant-3-title">
            <a:extLst xmlns:a="http://schemas.openxmlformats.org/drawingml/2006/main">
              <a:ext uri="{FF2B5EF4-FFF2-40B4-BE49-F238E27FC236}">
                <a16:creationId xmlns:a16="http://schemas.microsoft.com/office/drawing/2014/main" id="{027FB72A-A6C9-4988-8FC2-63805BE7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957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Import &amp; Administration</a:t>
            </a:r>
          </a:p>
        </p:txBody>
      </p:sp>
      <p:sp>
        <p:nvSpPr>
          <p:cNvPr id="15" name="quadrant-3-body">
            <a:extLst xmlns:a="http://schemas.openxmlformats.org/drawingml/2006/main">
              <a:ext uri="{FF2B5EF4-FFF2-40B4-BE49-F238E27FC236}">
                <a16:creationId xmlns:a16="http://schemas.microsoft.com/office/drawing/2014/main" id="{37C98D12-E56B-459A-BAA9-28F1A7F3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33900"/>
            <a:ext cx="4762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Aus Moodle werden nur Fragen, Formeln und Bilder übernommen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Import → Prüfung → Vorschau → Veröffentlichung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Admin verwaltet Nutzer, Zugänge, Codes und Inhalte</a:t>
            </a:r>
          </a:p>
        </p:txBody>
      </p:sp>
      <p:sp>
        <p:nvSpPr>
          <p:cNvPr id="16" name="quadrant-4-accent">
            <a:extLst xmlns:a="http://schemas.openxmlformats.org/drawingml/2006/main">
              <a:ext uri="{FF2B5EF4-FFF2-40B4-BE49-F238E27FC236}">
                <a16:creationId xmlns:a16="http://schemas.microsoft.com/office/drawing/2014/main" id="{1BDCCBDE-8AFC-469E-9F3A-6C8F469D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9814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7" name="quadrant-4-number">
            <a:extLst xmlns:a="http://schemas.openxmlformats.org/drawingml/2006/main">
              <a:ext uri="{FF2B5EF4-FFF2-40B4-BE49-F238E27FC236}">
                <a16:creationId xmlns:a16="http://schemas.microsoft.com/office/drawing/2014/main" id="{0D0D5356-57D1-4E79-AB91-EBBE3D62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52900"/>
            <a:ext cx="32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quadrant-4-title">
            <a:extLst xmlns:a="http://schemas.openxmlformats.org/drawingml/2006/main">
              <a:ext uri="{FF2B5EF4-FFF2-40B4-BE49-F238E27FC236}">
                <a16:creationId xmlns:a16="http://schemas.microsoft.com/office/drawing/2014/main" id="{D802EC68-6DC2-4D0D-A6CB-521E0C8B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57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Sicherheit &amp; Skalierung</a:t>
            </a:r>
          </a:p>
        </p:txBody>
      </p:sp>
      <p:sp>
        <p:nvSpPr>
          <p:cNvPr id="19" name="quadrant-4-body">
            <a:extLst xmlns:a="http://schemas.openxmlformats.org/drawingml/2006/main">
              <a:ext uri="{FF2B5EF4-FFF2-40B4-BE49-F238E27FC236}">
                <a16:creationId xmlns:a16="http://schemas.microsoft.com/office/drawing/2014/main" id="{B3A50C4A-F6B7-4CBD-A559-CEE8A728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533900"/>
            <a:ext cx="4762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MFA, Rollen und nachvollziehbares Änderungsprotokoll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Bereinigung, Verschlüsselung und getestete Sicherungen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Überwachung, Zustandsprüfungen und Lasttest mit Reserve</a:t>
            </a:r>
          </a:p>
        </p:txBody>
      </p:sp>
      <p:sp>
        <p:nvSpPr>
          <p:cNvPr id="20" name="slide-2-ai-rule">
            <a:extLst xmlns:a="http://schemas.openxmlformats.org/drawingml/2006/main">
              <a:ext uri="{FF2B5EF4-FFF2-40B4-BE49-F238E27FC236}">
                <a16:creationId xmlns:a16="http://schemas.microsoft.com/office/drawing/2014/main" id="{9DEABACE-A431-44CF-9E9E-7E5905ED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62650"/>
            <a:ext cx="76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1" name="slide-2-ai-note">
            <a:extLst xmlns:a="http://schemas.openxmlformats.org/drawingml/2006/main">
              <a:ext uri="{FF2B5EF4-FFF2-40B4-BE49-F238E27FC236}">
                <a16:creationId xmlns:a16="http://schemas.microsoft.com/office/drawing/2014/main" id="{E02DB764-FC47-4DE6-9F10-B9789B53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9810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KI später: separat freischaltbar und über eine kontrollierte Schnittstelle angebunden.</a:t>
            </a:r>
          </a:p>
        </p:txBody>
      </p:sp>
      <p:sp>
        <p:nvSpPr>
          <p:cNvPr id="22" name="source-2">
            <a:extLst xmlns:a="http://schemas.openxmlformats.org/drawingml/2006/main">
              <a:ext uri="{FF2B5EF4-FFF2-40B4-BE49-F238E27FC236}">
                <a16:creationId xmlns:a16="http://schemas.microsoft.com/office/drawing/2014/main" id="{94789823-3BAC-438C-B438-7839ACE8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34125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25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Scariev Lernplattform · Architekturentwurf · 16.07.2026</a:t>
            </a:r>
          </a:p>
        </p:txBody>
      </p:sp>
      <p:sp>
        <p:nvSpPr>
          <p:cNvPr id="23" name="page-2">
            <a:extLst xmlns:a="http://schemas.openxmlformats.org/drawingml/2006/main">
              <a:ext uri="{FF2B5EF4-FFF2-40B4-BE49-F238E27FC236}">
                <a16:creationId xmlns:a16="http://schemas.microsoft.com/office/drawing/2014/main" id="{7FD3B7B5-D1F6-4B8C-895D-A66AA743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268639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B307BD1E-A78C-4780-A72D-8591ED5A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Drei Etappen führen kontrolliert zur Ablösung von Moodle</a:t>
            </a:r>
          </a:p>
        </p:txBody>
      </p:sp>
      <p:sp>
        <p:nvSpPr>
          <p:cNvPr id="2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8CA940FF-06D4-4AA3-B502-82EEADA8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62100"/>
            <a:ext cx="952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Die Admin-Funktionen wachsen in jeder Etappe mit – nicht erst nach dem Lern-MVP.</a:t>
            </a:r>
          </a:p>
        </p:txBody>
      </p:sp>
      <p:cxnSp>
        <p:nvCxnSpPr>
          <p:cNvPr id="23" name="timeline"/>
          <p:cNvCxnSpPr/>
          <p:nvPr/>
        </p:nvCxnSpPr>
        <p:spPr>
          <a:xfrm xmlns:a="http://schemas.openxmlformats.org/drawingml/2006/main">
            <a:off x="1047750" y="3038475"/>
            <a:ext cx="8477250" cy="95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</a:ln>
        </p:spPr>
      </p:cxnSp>
      <p:sp>
        <p:nvSpPr>
          <p:cNvPr id="4" name="milestone-1-label">
            <a:extLst xmlns:a="http://schemas.openxmlformats.org/drawingml/2006/main">
              <a:ext uri="{FF2B5EF4-FFF2-40B4-BE49-F238E27FC236}">
                <a16:creationId xmlns:a16="http://schemas.microsoft.com/office/drawing/2014/main" id="{1A16BAD8-E243-4BBB-83F9-DC6A1202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228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PHASE 0–1</a:t>
            </a:r>
          </a:p>
        </p:txBody>
      </p:sp>
      <p:sp>
        <p:nvSpPr>
          <p:cNvPr id="5" name="milestone-1-dot">
            <a:extLst xmlns:a="http://schemas.openxmlformats.org/drawingml/2006/main">
              <a:ext uri="{FF2B5EF4-FFF2-40B4-BE49-F238E27FC236}">
                <a16:creationId xmlns:a16="http://schemas.microsoft.com/office/drawing/2014/main" id="{B848CE67-076A-4316-B655-6C85AEDC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milestone-1-title">
            <a:extLst xmlns:a="http://schemas.openxmlformats.org/drawingml/2006/main">
              <a:ext uri="{FF2B5EF4-FFF2-40B4-BE49-F238E27FC236}">
                <a16:creationId xmlns:a16="http://schemas.microsoft.com/office/drawing/2014/main" id="{4A00F9B9-4C29-41E3-A30F-DA8F9168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Grundlage schaffen</a:t>
            </a:r>
          </a:p>
        </p:txBody>
      </p:sp>
      <p:sp>
        <p:nvSpPr>
          <p:cNvPr id="7" name="milestone-1-body">
            <a:extLst xmlns:a="http://schemas.openxmlformats.org/drawingml/2006/main">
              <a:ext uri="{FF2B5EF4-FFF2-40B4-BE49-F238E27FC236}">
                <a16:creationId xmlns:a16="http://schemas.microsoft.com/office/drawing/2014/main" id="{B241882C-E6EB-4D8D-AC9D-28F54D47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31432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AWS, Bereitstellung und Überwachung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OIDC, UUID und Zugangsmodell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Admin-Rollen, MFA und Änderungsprotokoll</a:t>
            </a:r>
          </a:p>
        </p:txBody>
      </p:sp>
      <p:sp>
        <p:nvSpPr>
          <p:cNvPr id="8" name="milestone-2-label">
            <a:extLst xmlns:a="http://schemas.openxmlformats.org/drawingml/2006/main">
              <a:ext uri="{FF2B5EF4-FFF2-40B4-BE49-F238E27FC236}">
                <a16:creationId xmlns:a16="http://schemas.microsoft.com/office/drawing/2014/main" id="{DA5C2271-07AF-41F0-9AC0-A36B18BC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76500"/>
            <a:ext cx="228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PHASE 2–3</a:t>
            </a:r>
          </a:p>
        </p:txBody>
      </p:sp>
      <p:sp>
        <p:nvSpPr>
          <p:cNvPr id="9" name="milestone-2-dot">
            <a:extLst xmlns:a="http://schemas.openxmlformats.org/drawingml/2006/main">
              <a:ext uri="{FF2B5EF4-FFF2-40B4-BE49-F238E27FC236}">
                <a16:creationId xmlns:a16="http://schemas.microsoft.com/office/drawing/2014/main" id="{457E8778-C650-463D-81AD-798A4D5F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718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milestone-2-title">
            <a:extLst xmlns:a="http://schemas.openxmlformats.org/drawingml/2006/main">
              <a:ext uri="{FF2B5EF4-FFF2-40B4-BE49-F238E27FC236}">
                <a16:creationId xmlns:a16="http://schemas.microsoft.com/office/drawing/2014/main" id="{BA48CE7D-0BB7-4090-9BE9-AFAB6A8F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9090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Lern-MVP &amp; Inhalte</a:t>
            </a:r>
          </a:p>
        </p:txBody>
      </p:sp>
      <p:sp>
        <p:nvSpPr>
          <p:cNvPr id="11" name="milestone-2-body">
            <a:extLst xmlns:a="http://schemas.openxmlformats.org/drawingml/2006/main">
              <a:ext uri="{FF2B5EF4-FFF2-40B4-BE49-F238E27FC236}">
                <a16:creationId xmlns:a16="http://schemas.microsoft.com/office/drawing/2014/main" id="{49225CA8-CFC9-4FE2-9C0A-DEE9DAF9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67150"/>
            <a:ext cx="31432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Mobile Lernstrecke, Antworten und Fortschritt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Nutzer-, Zugangs- und Codeverwaltung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Moodle-Inhalte importieren, prüfen und freigeben</a:t>
            </a:r>
          </a:p>
        </p:txBody>
      </p:sp>
      <p:sp>
        <p:nvSpPr>
          <p:cNvPr id="12" name="milestone-3-label">
            <a:extLst xmlns:a="http://schemas.openxmlformats.org/drawingml/2006/main">
              <a:ext uri="{FF2B5EF4-FFF2-40B4-BE49-F238E27FC236}">
                <a16:creationId xmlns:a16="http://schemas.microsoft.com/office/drawing/2014/main" id="{72B27285-0F44-447D-8770-6EF4307E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228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PHASE 4</a:t>
            </a:r>
          </a:p>
        </p:txBody>
      </p:sp>
      <p:sp>
        <p:nvSpPr>
          <p:cNvPr id="13" name="milestone-3-dot">
            <a:extLst xmlns:a="http://schemas.openxmlformats.org/drawingml/2006/main">
              <a:ext uri="{FF2B5EF4-FFF2-40B4-BE49-F238E27FC236}">
                <a16:creationId xmlns:a16="http://schemas.microsoft.com/office/drawing/2014/main" id="{9ACEF53D-4D0A-417A-B5B6-3B59E872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718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milestone-3-title">
            <a:extLst xmlns:a="http://schemas.openxmlformats.org/drawingml/2006/main">
              <a:ext uri="{FF2B5EF4-FFF2-40B4-BE49-F238E27FC236}">
                <a16:creationId xmlns:a16="http://schemas.microsoft.com/office/drawing/2014/main" id="{D9417333-0DF3-4868-8F84-A1F127DE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9090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Produktiv gehen</a:t>
            </a:r>
          </a:p>
        </p:txBody>
      </p:sp>
      <p:sp>
        <p:nvSpPr>
          <p:cNvPr id="15" name="milestone-3-body">
            <a:extLst xmlns:a="http://schemas.openxmlformats.org/drawingml/2006/main">
              <a:ext uri="{FF2B5EF4-FFF2-40B4-BE49-F238E27FC236}">
                <a16:creationId xmlns:a16="http://schemas.microsoft.com/office/drawing/2014/main" id="{C1CB0CBF-925E-4025-A13B-79AD6EB9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67150"/>
            <a:ext cx="31432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4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Sicherheit, Barrierefreiheit und Wiederherstellung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Lasttest für 2.000 gleichzeitig Aktive plus Reserve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Pilot, finale Inhaltsmigration und Moodle-Stilllegung</a:t>
            </a:r>
          </a:p>
        </p:txBody>
      </p:sp>
      <p:sp>
        <p:nvSpPr>
          <p:cNvPr id="16" name="decision-band">
            <a:extLst xmlns:a="http://schemas.openxmlformats.org/drawingml/2006/main">
              <a:ext uri="{FF2B5EF4-FFF2-40B4-BE49-F238E27FC236}">
                <a16:creationId xmlns:a16="http://schemas.microsoft.com/office/drawing/2014/main" id="{89CE56D6-5B2C-4F13-90F0-FFB34F88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19750"/>
            <a:ext cx="114014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7" name="decision-callout">
            <a:extLst xmlns:a="http://schemas.openxmlformats.org/drawingml/2006/main">
              <a:ext uri="{FF2B5EF4-FFF2-40B4-BE49-F238E27FC236}">
                <a16:creationId xmlns:a16="http://schemas.microsoft.com/office/drawing/2014/main" id="{4E8E7C8F-7737-4F2E-ACBF-CEC931C2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781675"/>
            <a:ext cx="7429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Nächster Schritt: Zielarchitektur freigeben und Plattformgrundlage starten.</a:t>
            </a:r>
          </a:p>
        </p:txBody>
      </p:sp>
      <p:sp>
        <p:nvSpPr>
          <p:cNvPr id="18" name="future-callout">
            <a:extLst xmlns:a="http://schemas.openxmlformats.org/drawingml/2006/main">
              <a:ext uri="{FF2B5EF4-FFF2-40B4-BE49-F238E27FC236}">
                <a16:creationId xmlns:a16="http://schemas.microsoft.com/office/drawing/2014/main" id="{1A51D130-33D3-49BF-ABF0-B87D9F24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81675"/>
            <a:ext cx="32861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Danach: KI-Tutor und adaptives Lernen</a:t>
            </a:r>
          </a:p>
        </p:txBody>
      </p:sp>
      <p:sp>
        <p:nvSpPr>
          <p:cNvPr id="19" name="source-3">
            <a:extLst xmlns:a="http://schemas.openxmlformats.org/drawingml/2006/main">
              <a:ext uri="{FF2B5EF4-FFF2-40B4-BE49-F238E27FC236}">
                <a16:creationId xmlns:a16="http://schemas.microsoft.com/office/drawing/2014/main" id="{4869327E-78EE-4C96-9CF0-56B9686C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34125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25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Scariev Lernplattform · Architekturentwurf · 16.07.2026</a:t>
            </a:r>
          </a:p>
        </p:txBody>
      </p:sp>
      <p:sp>
        <p:nvSpPr>
          <p:cNvPr id="20" name="page-3">
            <a:extLst xmlns:a="http://schemas.openxmlformats.org/drawingml/2006/main">
              <a:ext uri="{FF2B5EF4-FFF2-40B4-BE49-F238E27FC236}">
                <a16:creationId xmlns:a16="http://schemas.microsoft.com/office/drawing/2014/main" id="{727817BE-ED20-41C7-AAB6-B79CD2AE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705125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2026-07-16T13:59:01.9890000Z</dcterms:created>
  <dcterms:modified xsi:type="dcterms:W3CDTF">2026-07-16T13:59:01.9890000Z</dcterms:modified>
</coreProperties>
</file>