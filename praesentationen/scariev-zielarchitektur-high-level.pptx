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170c599b344e0b" /><Relationship Type="http://schemas.openxmlformats.org/officeDocument/2006/relationships/extended-properties" Target="/docProps/app.xml" Id="R80955a25cd0741d7" /><Relationship Type="http://schemas.openxmlformats.org/officeDocument/2006/relationships/officeDocument" Target="/ppt/presentation.xml" Id="Rd4f89a6b58b44e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ac979b4d6546d4"/>
  </p:sldMasterIdLst>
  <p:notesMasterIdLst>
    <p:notesMasterId xmlns:r="http://schemas.openxmlformats.org/officeDocument/2006/relationships" r:id="R97b54cc20b71450f"/>
  </p:notesMasterIdLst>
  <p:sldIdLst>
    <p:sldId xmlns:r="http://schemas.openxmlformats.org/officeDocument/2006/relationships" id="256" r:id="Rbef49574bbf749b4"/>
    <p:sldId xmlns:r="http://schemas.openxmlformats.org/officeDocument/2006/relationships" id="257" r:id="R249e3cf14a76445b"/>
    <p:sldId xmlns:r="http://schemas.openxmlformats.org/officeDocument/2006/relationships" id="258" r:id="Ref8d243c9c1b45e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48cd3b53c34463" /><Relationship Type="http://schemas.openxmlformats.org/officeDocument/2006/relationships/slideMaster" Target="/ppt/slideMasters/slideMaster1.xml" Id="Re5ac979b4d6546d4" /><Relationship Type="http://schemas.openxmlformats.org/officeDocument/2006/relationships/notesMaster" Target="/ppt/notesMasters/notesMaster1.xml" Id="R97b54cc20b71450f" /><Relationship Type="http://schemas.openxmlformats.org/officeDocument/2006/relationships/presProps" Target="/ppt/presProps.xml" Id="R7f2a64fad63e4a8d" /><Relationship Type="http://schemas.openxmlformats.org/officeDocument/2006/relationships/tableStyles" Target="/ppt/tableStyles.xml" Id="Rfc0b083f63e64cdd" /><Relationship Type="http://schemas.openxmlformats.org/officeDocument/2006/relationships/slide" Target="/ppt/slides/slide1.xml" Id="Rbef49574bbf749b4" /><Relationship Type="http://schemas.openxmlformats.org/officeDocument/2006/relationships/slide" Target="/ppt/slides/slide2.xml" Id="R249e3cf14a76445b" /><Relationship Type="http://schemas.openxmlformats.org/officeDocument/2006/relationships/slide" Target="/ppt/slides/slide3.xml" Id="Ref8d243c9c1b45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bd7f390a834d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54e2778f67463e" /><Relationship Type="http://schemas.openxmlformats.org/officeDocument/2006/relationships/notesMaster" Target="/ppt/notesMasters/notesMaster1.xml" Id="Raa51dc7586f24c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96bb811efa4cdc" /><Relationship Type="http://schemas.openxmlformats.org/officeDocument/2006/relationships/notesMaster" Target="/ppt/notesMasters/notesMaster1.xml" Id="Rbb3ea9f4f86d46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20e3a3b06342ea" /><Relationship Type="http://schemas.openxmlformats.org/officeDocument/2006/relationships/notesMaster" Target="/ppt/notesMasters/notesMaster1.xml" Id="R86422f44beb241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622fa6c60448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c78466299143e9" /><Relationship Type="http://schemas.openxmlformats.org/officeDocument/2006/relationships/slideLayout" Target="/ppt/slideLayouts/slideLayout1.xml" Id="R2156a661b76c4b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56a661b76c4b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6291b2c814ce4" /><Relationship Type="http://schemas.openxmlformats.org/officeDocument/2006/relationships/notesSlide" Target="/ppt/notesSlides/notesSlide1.xml" Id="R1df938f8c19d4a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b093c5e6c4e08" /><Relationship Type="http://schemas.openxmlformats.org/officeDocument/2006/relationships/notesSlide" Target="/ppt/notesSlides/notesSlide2.xml" Id="R33998e514d3a4e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6c53cc3d24417" /><Relationship Type="http://schemas.openxmlformats.org/officeDocument/2006/relationships/notesSlide" Target="/ppt/notesSlides/notesSlide3.xml" Id="Reca0c68cd5e54ef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lide-1-title">
            <a:extLst xmlns:a="http://schemas.openxmlformats.org/drawingml/2006/main">
              <a:ext uri="{FF2B5EF4-FFF2-40B4-BE49-F238E27FC236}">
                <a16:creationId xmlns:a16="http://schemas.microsoft.com/office/drawing/2014/main" id="{8C86E92E-361F-453E-AB77-CF585E3D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Eine Plattform verbindet Lernen, Inhalte und Administration</a:t>
            </a:r>
          </a:p>
        </p:txBody>
      </p:sp>
      <p:sp>
        <p:nvSpPr>
          <p:cNvPr id="2" name="slide-1-summary">
            <a:extLst xmlns:a="http://schemas.openxmlformats.org/drawingml/2006/main">
              <a:ext uri="{FF2B5EF4-FFF2-40B4-BE49-F238E27FC236}">
                <a16:creationId xmlns:a16="http://schemas.microsoft.com/office/drawing/2014/main" id="{F086DCE7-AB91-4E51-A494-7C242E81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00125"/>
            <a:ext cx="952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Das Zielbild bündelt die Kernfunktionen; technische Details bleiben austauschbar.</a:t>
            </a:r>
          </a:p>
        </p:txBody>
      </p:sp>
      <p:sp>
        <p:nvSpPr>
          <p:cNvPr id="3" name="architecture-field">
            <a:extLst xmlns:a="http://schemas.openxmlformats.org/drawingml/2006/main">
              <a:ext uri="{FF2B5EF4-FFF2-40B4-BE49-F238E27FC236}">
                <a16:creationId xmlns:a16="http://schemas.microsoft.com/office/drawing/2014/main" id="{B016337B-AC76-4E3F-813D-F6EC8D904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28750"/>
            <a:ext cx="10515600" cy="4057650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cxnSp>
        <p:nvCxnSpPr>
          <p:cNvPr id="32" name="learner-to-platform"/>
          <p:cNvCxnSpPr/>
          <p:nvPr/>
        </p:nvCxnSpPr>
        <p:spPr>
          <a:xfrm xmlns:a="http://schemas.openxmlformats.org/drawingml/2006/main">
            <a:off x="3143250" y="2152650"/>
            <a:ext cx="953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33" name="admin-to-platform"/>
          <p:cNvCxnSpPr/>
          <p:nvPr/>
        </p:nvCxnSpPr>
        <p:spPr>
          <a:xfrm xmlns:a="http://schemas.openxmlformats.org/drawingml/2006/main">
            <a:off x="9048750" y="2152650"/>
            <a:ext cx="953" cy="3429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34" name="platform-to-data"/>
          <p:cNvCxnSpPr/>
          <p:nvPr/>
        </p:nvCxnSpPr>
        <p:spPr>
          <a:xfrm xmlns:a="http://schemas.openxmlformats.org/drawingml/2006/main">
            <a:off x="6096000" y="3448050"/>
            <a:ext cx="953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cxnSp>
        <p:nvCxnSpPr>
          <p:cNvPr id="35" name="data-to-foundation"/>
          <p:cNvCxnSpPr/>
          <p:nvPr/>
        </p:nvCxnSpPr>
        <p:spPr>
          <a:xfrm xmlns:a="http://schemas.openxmlformats.org/drawingml/2006/main">
            <a:off x="6096000" y="4533900"/>
            <a:ext cx="953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B8BCC4"/>
            </a:solidFill>
            <a:prstDash val="solid"/>
          </a:ln>
        </p:spPr>
      </p:cxnSp>
      <p:sp>
        <p:nvSpPr>
          <p:cNvPr id="8" name="learner-box">
            <a:extLst xmlns:a="http://schemas.openxmlformats.org/drawingml/2006/main">
              <a:ext uri="{FF2B5EF4-FFF2-40B4-BE49-F238E27FC236}">
                <a16:creationId xmlns:a16="http://schemas.microsoft.com/office/drawing/2014/main" id="{4E552C2A-87D7-4C1B-BE0E-07FCACDF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6764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learner-label">
            <a:extLst xmlns:a="http://schemas.openxmlformats.org/drawingml/2006/main">
              <a:ext uri="{FF2B5EF4-FFF2-40B4-BE49-F238E27FC236}">
                <a16:creationId xmlns:a16="http://schemas.microsoft.com/office/drawing/2014/main" id="{E621D960-35DA-41F7-9F5A-F16DC6CC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714500"/>
            <a:ext cx="1943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Lernende
Mobile Webanwendung</a:t>
            </a:r>
          </a:p>
        </p:txBody>
      </p:sp>
      <p:sp>
        <p:nvSpPr>
          <p:cNvPr id="10" name="admin-box">
            <a:extLst xmlns:a="http://schemas.openxmlformats.org/drawingml/2006/main">
              <a:ext uri="{FF2B5EF4-FFF2-40B4-BE49-F238E27FC236}">
                <a16:creationId xmlns:a16="http://schemas.microsoft.com/office/drawing/2014/main" id="{C087C214-8C5F-4F35-8FEF-13B00DD91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76400"/>
            <a:ext cx="2095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admin-label">
            <a:extLst xmlns:a="http://schemas.openxmlformats.org/drawingml/2006/main">
              <a:ext uri="{FF2B5EF4-FFF2-40B4-BE49-F238E27FC236}">
                <a16:creationId xmlns:a16="http://schemas.microsoft.com/office/drawing/2014/main" id="{3E0823F1-F52A-4E68-B52D-97239062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19431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Administration
Geschützter Bereich</a:t>
            </a:r>
          </a:p>
        </p:txBody>
      </p:sp>
      <p:sp>
        <p:nvSpPr>
          <p:cNvPr id="12" name="platform-box">
            <a:extLst xmlns:a="http://schemas.openxmlformats.org/drawingml/2006/main">
              <a:ext uri="{FF2B5EF4-FFF2-40B4-BE49-F238E27FC236}">
                <a16:creationId xmlns:a16="http://schemas.microsoft.com/office/drawing/2014/main" id="{0D7D728F-1FFB-4669-94A4-342354C4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95550"/>
            <a:ext cx="9715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3" name="platform-title">
            <a:extLst xmlns:a="http://schemas.openxmlformats.org/drawingml/2006/main">
              <a:ext uri="{FF2B5EF4-FFF2-40B4-BE49-F238E27FC236}">
                <a16:creationId xmlns:a16="http://schemas.microsoft.com/office/drawing/2014/main" id="{11848587-3E15-4170-B663-DF77B63D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19375"/>
            <a:ext cx="933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Scariev Lernplattform</a:t>
            </a:r>
          </a:p>
        </p:txBody>
      </p:sp>
      <p:sp>
        <p:nvSpPr>
          <p:cNvPr id="14" name="platform-capabilities">
            <a:extLst xmlns:a="http://schemas.openxmlformats.org/drawingml/2006/main">
              <a:ext uri="{FF2B5EF4-FFF2-40B4-BE49-F238E27FC236}">
                <a16:creationId xmlns:a16="http://schemas.microsoft.com/office/drawing/2014/main" id="{846B9DE6-8908-4E4A-A179-6569B1C7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67050"/>
            <a:ext cx="933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Lernen &amp; Prüfungsvorbereitung   ·   Inhalte &amp; Prüfungseditionen   ·   Nutzer &amp; Zugänge</a:t>
            </a:r>
          </a:p>
        </p:txBody>
      </p:sp>
      <p:sp>
        <p:nvSpPr>
          <p:cNvPr id="15" name="data-box">
            <a:extLst xmlns:a="http://schemas.openxmlformats.org/drawingml/2006/main">
              <a:ext uri="{FF2B5EF4-FFF2-40B4-BE49-F238E27FC236}">
                <a16:creationId xmlns:a16="http://schemas.microsoft.com/office/drawing/2014/main" id="{498BDBEB-4F66-4779-8C1B-44552D45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0000"/>
            <a:ext cx="9715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data-title">
            <a:extLst xmlns:a="http://schemas.openxmlformats.org/drawingml/2006/main">
              <a:ext uri="{FF2B5EF4-FFF2-40B4-BE49-F238E27FC236}">
                <a16:creationId xmlns:a16="http://schemas.microsoft.com/office/drawing/2014/main" id="{472AAB45-DC3C-4AF3-AD39-EC5EAC0D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10025"/>
            <a:ext cx="2190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Daten &amp; Integration</a:t>
            </a:r>
          </a:p>
        </p:txBody>
      </p:sp>
      <p:sp>
        <p:nvSpPr>
          <p:cNvPr id="17" name="data-description">
            <a:extLst xmlns:a="http://schemas.openxmlformats.org/drawingml/2006/main">
              <a:ext uri="{FF2B5EF4-FFF2-40B4-BE49-F238E27FC236}">
                <a16:creationId xmlns:a16="http://schemas.microsoft.com/office/drawing/2014/main" id="{713CDA07-E104-426E-AC9B-9522A9A4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10025"/>
            <a:ext cx="695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Lernfortschritt · Antworten · Moodle-Inhaltsimport · Formeln &amp; Bilder</a:t>
            </a:r>
          </a:p>
        </p:txBody>
      </p:sp>
      <p:sp>
        <p:nvSpPr>
          <p:cNvPr id="18" name="foundation-box">
            <a:extLst xmlns:a="http://schemas.openxmlformats.org/drawingml/2006/main">
              <a:ext uri="{FF2B5EF4-FFF2-40B4-BE49-F238E27FC236}">
                <a16:creationId xmlns:a16="http://schemas.microsoft.com/office/drawing/2014/main" id="{15A25DFF-C719-4F72-A6C9-B7A7E2AB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9650"/>
            <a:ext cx="971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foundation-title">
            <a:extLst xmlns:a="http://schemas.openxmlformats.org/drawingml/2006/main">
              <a:ext uri="{FF2B5EF4-FFF2-40B4-BE49-F238E27FC236}">
                <a16:creationId xmlns:a16="http://schemas.microsoft.com/office/drawing/2014/main" id="{19EA0739-9B7C-42FC-8146-32BA0F662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0101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Sicherer Betrieb in AWS EU</a:t>
            </a:r>
          </a:p>
        </p:txBody>
      </p:sp>
      <p:sp>
        <p:nvSpPr>
          <p:cNvPr id="20" name="foundation-description">
            <a:extLst xmlns:a="http://schemas.openxmlformats.org/drawingml/2006/main">
              <a:ext uri="{FF2B5EF4-FFF2-40B4-BE49-F238E27FC236}">
                <a16:creationId xmlns:a16="http://schemas.microsoft.com/office/drawing/2014/main" id="{0C300A78-3F26-4F25-B1CD-06886300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10150"/>
            <a:ext cx="619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Datenschutz · Skalierung · Überwachung &amp; Zustandsprüfungen</a:t>
            </a:r>
          </a:p>
        </p:txBody>
      </p:sp>
      <p:sp>
        <p:nvSpPr>
          <p:cNvPr id="21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14282E24-A9E4-44DD-93C0-0F97D5583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95950"/>
            <a:ext cx="266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LEITENTSCHEIDUNG</a:t>
            </a:r>
          </a:p>
        </p:txBody>
      </p:sp>
      <p:sp>
        <p:nvSpPr>
          <p:cNvPr id="22" name="decision-value">
            <a:extLst xmlns:a="http://schemas.openxmlformats.org/drawingml/2006/main">
              <a:ext uri="{FF2B5EF4-FFF2-40B4-BE49-F238E27FC236}">
                <a16:creationId xmlns:a16="http://schemas.microsoft.com/office/drawing/2014/main" id="{325594E8-28E5-4660-9808-394FC4F5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Modularer Monolith · Next.js · PostgreSQL</a:t>
            </a:r>
          </a:p>
        </p:txBody>
      </p:sp>
      <p:sp>
        <p:nvSpPr>
          <p:cNvPr id="23" name="scale-label">
            <a:extLst xmlns:a="http://schemas.openxmlformats.org/drawingml/2006/main">
              <a:ext uri="{FF2B5EF4-FFF2-40B4-BE49-F238E27FC236}">
                <a16:creationId xmlns:a16="http://schemas.microsoft.com/office/drawing/2014/main" id="{0F560C3E-F02F-41D8-8D15-6013CB14E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695950"/>
            <a:ext cx="2667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SKALIERUNGSZIEL</a:t>
            </a:r>
          </a:p>
        </p:txBody>
      </p:sp>
      <p:sp>
        <p:nvSpPr>
          <p:cNvPr id="24" name="scale-value">
            <a:extLst xmlns:a="http://schemas.openxmlformats.org/drawingml/2006/main">
              <a:ext uri="{FF2B5EF4-FFF2-40B4-BE49-F238E27FC236}">
                <a16:creationId xmlns:a16="http://schemas.microsoft.com/office/drawing/2014/main" id="{C804B791-6714-4130-8AAD-5C3E1FEE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9055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10.000 registriert · 2.000 gleichzeitig</a:t>
            </a:r>
          </a:p>
        </p:txBody>
      </p:sp>
      <p:sp>
        <p:nvSpPr>
          <p:cNvPr id="25" name="future-label">
            <a:extLst xmlns:a="http://schemas.openxmlformats.org/drawingml/2006/main">
              <a:ext uri="{FF2B5EF4-FFF2-40B4-BE49-F238E27FC236}">
                <a16:creationId xmlns:a16="http://schemas.microsoft.com/office/drawing/2014/main" id="{D55CBFAD-E524-4F82-BC36-BB0DA3F0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95950"/>
            <a:ext cx="28575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SPÄTERE ERWEITERUNG</a:t>
            </a:r>
          </a:p>
        </p:txBody>
      </p:sp>
      <p:sp>
        <p:nvSpPr>
          <p:cNvPr id="26" name="future-value">
            <a:extLst xmlns:a="http://schemas.openxmlformats.org/drawingml/2006/main">
              <a:ext uri="{FF2B5EF4-FFF2-40B4-BE49-F238E27FC236}">
                <a16:creationId xmlns:a16="http://schemas.microsoft.com/office/drawing/2014/main" id="{55D1E94C-F5D3-4C58-83F4-A9E0F529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9055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27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KI-Tutor &amp; adaptives Lernen</a:t>
            </a:r>
          </a:p>
        </p:txBody>
      </p:sp>
      <p:sp>
        <p:nvSpPr>
          <p:cNvPr id="27" name="source-1">
            <a:extLst xmlns:a="http://schemas.openxmlformats.org/drawingml/2006/main">
              <a:ext uri="{FF2B5EF4-FFF2-40B4-BE49-F238E27FC236}">
                <a16:creationId xmlns:a16="http://schemas.microsoft.com/office/drawing/2014/main" id="{52298954-0A48-4D24-A825-B6B9A0810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34125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25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Scariev Lernplattform · Architekturentwurf · 16.07.2026</a:t>
            </a:r>
          </a:p>
        </p:txBody>
      </p:sp>
      <p:sp>
        <p:nvSpPr>
          <p:cNvPr id="28" name="page-1">
            <a:extLst xmlns:a="http://schemas.openxmlformats.org/drawingml/2006/main">
              <a:ext uri="{FF2B5EF4-FFF2-40B4-BE49-F238E27FC236}">
                <a16:creationId xmlns:a16="http://schemas.microsoft.com/office/drawing/2014/main" id="{8CEABB10-F716-4152-A52D-50220D06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889041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ABD3A825-1D22-4109-AA5E-A595EADA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Vier Kernfähigkeiten bilden den ersten Lieferumfang</a:t>
            </a:r>
          </a:p>
        </p:txBody>
      </p:sp>
      <p:cxnSp>
        <p:nvCxnSpPr>
          <p:cNvPr id="25" name="slide-2-vertical-rule"/>
          <p:cNvCxnSpPr/>
          <p:nvPr/>
        </p:nvCxnSpPr>
        <p:spPr>
          <a:xfrm xmlns:a="http://schemas.openxmlformats.org/drawingml/2006/main">
            <a:off x="6096000" y="1828800"/>
            <a:ext cx="953" cy="3905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6" name="slide-2-horizontal-rule"/>
          <p:cNvCxnSpPr/>
          <p:nvPr/>
        </p:nvCxnSpPr>
        <p:spPr>
          <a:xfrm xmlns:a="http://schemas.openxmlformats.org/drawingml/2006/main">
            <a:off x="390525" y="3829050"/>
            <a:ext cx="11401425" cy="953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quadrant-1-accent">
            <a:extLst xmlns:a="http://schemas.openxmlformats.org/drawingml/2006/main">
              <a:ext uri="{FF2B5EF4-FFF2-40B4-BE49-F238E27FC236}">
                <a16:creationId xmlns:a16="http://schemas.microsoft.com/office/drawing/2014/main" id="{1D910D62-A828-4C9E-99CE-CB8322CB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335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5" name="quadrant-1-number">
            <a:extLst xmlns:a="http://schemas.openxmlformats.org/drawingml/2006/main">
              <a:ext uri="{FF2B5EF4-FFF2-40B4-BE49-F238E27FC236}">
                <a16:creationId xmlns:a16="http://schemas.microsoft.com/office/drawing/2014/main" id="{4579D615-5448-4ED6-B5B6-FF7676AB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905000"/>
            <a:ext cx="32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quadrant-1-title">
            <a:extLst xmlns:a="http://schemas.openxmlformats.org/drawingml/2006/main">
              <a:ext uri="{FF2B5EF4-FFF2-40B4-BE49-F238E27FC236}">
                <a16:creationId xmlns:a16="http://schemas.microsoft.com/office/drawing/2014/main" id="{406556A0-723E-4EFF-A15B-CE01AF26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4785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Zugang</a:t>
            </a:r>
          </a:p>
        </p:txBody>
      </p:sp>
      <p:sp>
        <p:nvSpPr>
          <p:cNvPr id="7" name="quadrant-1-body">
            <a:extLst xmlns:a="http://schemas.openxmlformats.org/drawingml/2006/main">
              <a:ext uri="{FF2B5EF4-FFF2-40B4-BE49-F238E27FC236}">
                <a16:creationId xmlns:a16="http://schemas.microsoft.com/office/drawing/2014/main" id="{F50F8308-A4D6-484A-8F76-AC4563C6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86000"/>
            <a:ext cx="4762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UUID-Konto → zeitlich begrenzter Zugang → feste Edition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Online-Kauf startet nach Zahlung; Printcode schaltet frei</a:t>
            </a:r>
          </a:p>
        </p:txBody>
      </p:sp>
      <p:sp>
        <p:nvSpPr>
          <p:cNvPr id="8" name="quadrant-2-accent">
            <a:extLst xmlns:a="http://schemas.openxmlformats.org/drawingml/2006/main">
              <a:ext uri="{FF2B5EF4-FFF2-40B4-BE49-F238E27FC236}">
                <a16:creationId xmlns:a16="http://schemas.microsoft.com/office/drawing/2014/main" id="{DB738129-D7E3-4E93-A25F-710E0B93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335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9" name="quadrant-2-number">
            <a:extLst xmlns:a="http://schemas.openxmlformats.org/drawingml/2006/main">
              <a:ext uri="{FF2B5EF4-FFF2-40B4-BE49-F238E27FC236}">
                <a16:creationId xmlns:a16="http://schemas.microsoft.com/office/drawing/2014/main" id="{E9D9EA65-D988-4023-89D0-DCEB8FC5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905000"/>
            <a:ext cx="32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quadrant-2-title">
            <a:extLst xmlns:a="http://schemas.openxmlformats.org/drawingml/2006/main">
              <a:ext uri="{FF2B5EF4-FFF2-40B4-BE49-F238E27FC236}">
                <a16:creationId xmlns:a16="http://schemas.microsoft.com/office/drawing/2014/main" id="{9F1AE8BD-9E22-48B5-A170-5C2E7FCB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84785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Lernen</a:t>
            </a:r>
          </a:p>
        </p:txBody>
      </p:sp>
      <p:sp>
        <p:nvSpPr>
          <p:cNvPr id="11" name="quadrant-2-body">
            <a:extLst xmlns:a="http://schemas.openxmlformats.org/drawingml/2006/main">
              <a:ext uri="{FF2B5EF4-FFF2-40B4-BE49-F238E27FC236}">
                <a16:creationId xmlns:a16="http://schemas.microsoft.com/office/drawing/2014/main" id="{DBCE665F-42FC-41DC-9222-782478F2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286000"/>
            <a:ext cx="4762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Frage → Antwort → Lernfortschritt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Formeln, Bilder und Lösungen sicher ausliefern</a:t>
            </a:r>
          </a:p>
        </p:txBody>
      </p:sp>
      <p:sp>
        <p:nvSpPr>
          <p:cNvPr id="12" name="quadrant-3-accent">
            <a:extLst xmlns:a="http://schemas.openxmlformats.org/drawingml/2006/main">
              <a:ext uri="{FF2B5EF4-FFF2-40B4-BE49-F238E27FC236}">
                <a16:creationId xmlns:a16="http://schemas.microsoft.com/office/drawing/2014/main" id="{370C8424-E7C5-49CE-89D5-1A936157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814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3" name="quadrant-3-number">
            <a:extLst xmlns:a="http://schemas.openxmlformats.org/drawingml/2006/main">
              <a:ext uri="{FF2B5EF4-FFF2-40B4-BE49-F238E27FC236}">
                <a16:creationId xmlns:a16="http://schemas.microsoft.com/office/drawing/2014/main" id="{EAA6CC93-797D-4DA1-9AA8-E9EC3EC3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152900"/>
            <a:ext cx="32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quadrant-3-title">
            <a:extLst xmlns:a="http://schemas.openxmlformats.org/drawingml/2006/main">
              <a:ext uri="{FF2B5EF4-FFF2-40B4-BE49-F238E27FC236}">
                <a16:creationId xmlns:a16="http://schemas.microsoft.com/office/drawing/2014/main" id="{5760C636-4D98-4D0E-B030-4A2FEA42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9575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Inhalte &amp; Administration</a:t>
            </a:r>
          </a:p>
        </p:txBody>
      </p:sp>
      <p:sp>
        <p:nvSpPr>
          <p:cNvPr id="15" name="quadrant-3-body">
            <a:extLst xmlns:a="http://schemas.openxmlformats.org/drawingml/2006/main">
              <a:ext uri="{FF2B5EF4-FFF2-40B4-BE49-F238E27FC236}">
                <a16:creationId xmlns:a16="http://schemas.microsoft.com/office/drawing/2014/main" id="{F71D8584-2B4D-458B-8EAA-B8BC4424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33900"/>
            <a:ext cx="4762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Nur Inhalte aus Moodle übernehmen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Import → Admin-Prüfung → Veröffentlichung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Admin steuert Nutzer, Zugänge, Codes und Editionen</a:t>
            </a:r>
          </a:p>
        </p:txBody>
      </p:sp>
      <p:sp>
        <p:nvSpPr>
          <p:cNvPr id="16" name="quadrant-4-accent">
            <a:extLst xmlns:a="http://schemas.openxmlformats.org/drawingml/2006/main">
              <a:ext uri="{FF2B5EF4-FFF2-40B4-BE49-F238E27FC236}">
                <a16:creationId xmlns:a16="http://schemas.microsoft.com/office/drawing/2014/main" id="{9BF0C454-FCE2-45F3-8E44-49F137C4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9814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17" name="quadrant-4-number">
            <a:extLst xmlns:a="http://schemas.openxmlformats.org/drawingml/2006/main">
              <a:ext uri="{FF2B5EF4-FFF2-40B4-BE49-F238E27FC236}">
                <a16:creationId xmlns:a16="http://schemas.microsoft.com/office/drawing/2014/main" id="{4CC623AD-2891-4B46-9F79-C63C34A6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152900"/>
            <a:ext cx="323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05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quadrant-4-title">
            <a:extLst xmlns:a="http://schemas.openxmlformats.org/drawingml/2006/main">
              <a:ext uri="{FF2B5EF4-FFF2-40B4-BE49-F238E27FC236}">
                <a16:creationId xmlns:a16="http://schemas.microsoft.com/office/drawing/2014/main" id="{53C6CE6E-FE26-4745-9A41-7BB7DFE1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575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Sicherer Betrieb</a:t>
            </a:r>
          </a:p>
        </p:txBody>
      </p:sp>
      <p:sp>
        <p:nvSpPr>
          <p:cNvPr id="19" name="quadrant-4-body">
            <a:extLst xmlns:a="http://schemas.openxmlformats.org/drawingml/2006/main">
              <a:ext uri="{FF2B5EF4-FFF2-40B4-BE49-F238E27FC236}">
                <a16:creationId xmlns:a16="http://schemas.microsoft.com/office/drawing/2014/main" id="{19923B7E-5DCB-44E4-A5AD-8C06727F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533900"/>
            <a:ext cx="4762500" cy="1162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Mehrfaktor-Anmeldung, Rollen, Protokoll und Backups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Überwachung und Skalierung für Prüfungsspitzen</a:t>
            </a:r>
          </a:p>
        </p:txBody>
      </p:sp>
      <p:sp>
        <p:nvSpPr>
          <p:cNvPr id="20" name="slide-2-ai-rule">
            <a:extLst xmlns:a="http://schemas.openxmlformats.org/drawingml/2006/main">
              <a:ext uri="{FF2B5EF4-FFF2-40B4-BE49-F238E27FC236}">
                <a16:creationId xmlns:a16="http://schemas.microsoft.com/office/drawing/2014/main" id="{453F59CA-556A-4229-9951-7AAAE16B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62650"/>
            <a:ext cx="762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solidFill>
              <a:srgbClr val="6DCBF4"/>
            </a:solidFill>
            <a:prstDash val="solid"/>
          </a:ln>
        </p:spPr>
      </p:sp>
      <p:sp>
        <p:nvSpPr>
          <p:cNvPr id="21" name="slide-2-ai-note">
            <a:extLst xmlns:a="http://schemas.openxmlformats.org/drawingml/2006/main">
              <a:ext uri="{FF2B5EF4-FFF2-40B4-BE49-F238E27FC236}">
                <a16:creationId xmlns:a16="http://schemas.microsoft.com/office/drawing/2014/main" id="{AFD17AF4-0FA2-468F-B652-E5317355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81700"/>
            <a:ext cx="9810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Später: KI-Funktionen als optional freischaltbare Erweiterung.</a:t>
            </a:r>
          </a:p>
        </p:txBody>
      </p:sp>
      <p:sp>
        <p:nvSpPr>
          <p:cNvPr id="22" name="source-2">
            <a:extLst xmlns:a="http://schemas.openxmlformats.org/drawingml/2006/main">
              <a:ext uri="{FF2B5EF4-FFF2-40B4-BE49-F238E27FC236}">
                <a16:creationId xmlns:a16="http://schemas.microsoft.com/office/drawing/2014/main" id="{C8299B24-F7CB-4C7F-B87A-33F260DD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34125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25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Scariev Lernplattform · Architekturentwurf · 16.07.2026</a:t>
            </a:r>
          </a:p>
        </p:txBody>
      </p:sp>
      <p:sp>
        <p:nvSpPr>
          <p:cNvPr id="23" name="page-2">
            <a:extLst xmlns:a="http://schemas.openxmlformats.org/drawingml/2006/main">
              <a:ext uri="{FF2B5EF4-FFF2-40B4-BE49-F238E27FC236}">
                <a16:creationId xmlns:a16="http://schemas.microsoft.com/office/drawing/2014/main" id="{B5EF8B73-3B76-44A4-8BAB-B5CB31D9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909966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57517E65-8166-466C-BB2D-E95B98A0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Drei Etappen führen kontrolliert zur Ablösung von Moodle</a:t>
            </a:r>
          </a:p>
        </p:txBody>
      </p:sp>
      <p:sp>
        <p:nvSpPr>
          <p:cNvPr id="2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5D4BB195-F1EC-45C6-92D1-DE6DE07A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562100"/>
            <a:ext cx="952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Jede Etappe liefert nutzbaren Wert und erweitert den Admin-Bereich.</a:t>
            </a:r>
          </a:p>
        </p:txBody>
      </p:sp>
      <p:cxnSp>
        <p:nvCxnSpPr>
          <p:cNvPr id="23" name="timeline"/>
          <p:cNvCxnSpPr/>
          <p:nvPr/>
        </p:nvCxnSpPr>
        <p:spPr>
          <a:xfrm xmlns:a="http://schemas.openxmlformats.org/drawingml/2006/main">
            <a:off x="1047750" y="3038475"/>
            <a:ext cx="8477250" cy="953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0000"/>
            </a:solidFill>
            <a:prstDash val="solid"/>
          </a:ln>
        </p:spPr>
      </p:cxnSp>
      <p:sp>
        <p:nvSpPr>
          <p:cNvPr id="4" name="milestone-1-label">
            <a:extLst xmlns:a="http://schemas.openxmlformats.org/drawingml/2006/main">
              <a:ext uri="{FF2B5EF4-FFF2-40B4-BE49-F238E27FC236}">
                <a16:creationId xmlns:a16="http://schemas.microsoft.com/office/drawing/2014/main" id="{8B8B218E-F185-40DE-BF26-54D2A43A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2286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ETAPPE 1</a:t>
            </a:r>
          </a:p>
        </p:txBody>
      </p:sp>
      <p:sp>
        <p:nvSpPr>
          <p:cNvPr id="5" name="milestone-1-dot">
            <a:extLst xmlns:a="http://schemas.openxmlformats.org/drawingml/2006/main">
              <a:ext uri="{FF2B5EF4-FFF2-40B4-BE49-F238E27FC236}">
                <a16:creationId xmlns:a16="http://schemas.microsoft.com/office/drawing/2014/main" id="{56AAFBEF-F044-4479-BEB5-31F757EB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milestone-1-title">
            <a:extLst xmlns:a="http://schemas.openxmlformats.org/drawingml/2006/main">
              <a:ext uri="{FF2B5EF4-FFF2-40B4-BE49-F238E27FC236}">
                <a16:creationId xmlns:a16="http://schemas.microsoft.com/office/drawing/2014/main" id="{2C4A91F5-3B91-4ED4-AF22-1CFB914C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Plattform vorbereiten</a:t>
            </a:r>
          </a:p>
        </p:txBody>
      </p:sp>
      <p:sp>
        <p:nvSpPr>
          <p:cNvPr id="7" name="milestone-1-body">
            <a:extLst xmlns:a="http://schemas.openxmlformats.org/drawingml/2006/main">
              <a:ext uri="{FF2B5EF4-FFF2-40B4-BE49-F238E27FC236}">
                <a16:creationId xmlns:a16="http://schemas.microsoft.com/office/drawing/2014/main" id="{963B03AE-DF26-4716-87FA-3C45F84A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67150"/>
            <a:ext cx="31432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Betriebsgrundlage und Anmeldung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Zugänge und Admin-Funktionen</a:t>
            </a:r>
          </a:p>
        </p:txBody>
      </p:sp>
      <p:sp>
        <p:nvSpPr>
          <p:cNvPr id="8" name="milestone-2-label">
            <a:extLst xmlns:a="http://schemas.openxmlformats.org/drawingml/2006/main">
              <a:ext uri="{FF2B5EF4-FFF2-40B4-BE49-F238E27FC236}">
                <a16:creationId xmlns:a16="http://schemas.microsoft.com/office/drawing/2014/main" id="{4482A67B-3013-4C03-ADD4-8BB3ECD1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476500"/>
            <a:ext cx="2286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ETAPPE 2</a:t>
            </a:r>
          </a:p>
        </p:txBody>
      </p:sp>
      <p:sp>
        <p:nvSpPr>
          <p:cNvPr id="9" name="milestone-2-dot">
            <a:extLst xmlns:a="http://schemas.openxmlformats.org/drawingml/2006/main">
              <a:ext uri="{FF2B5EF4-FFF2-40B4-BE49-F238E27FC236}">
                <a16:creationId xmlns:a16="http://schemas.microsoft.com/office/drawing/2014/main" id="{DE6D50C4-C3AF-4588-AC13-7FB94313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718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milestone-2-title">
            <a:extLst xmlns:a="http://schemas.openxmlformats.org/drawingml/2006/main">
              <a:ext uri="{FF2B5EF4-FFF2-40B4-BE49-F238E27FC236}">
                <a16:creationId xmlns:a16="http://schemas.microsoft.com/office/drawing/2014/main" id="{9A782F46-9347-4502-9E14-FE1F22F9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39090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Lernen &amp; Inhalte</a:t>
            </a:r>
          </a:p>
        </p:txBody>
      </p:sp>
      <p:sp>
        <p:nvSpPr>
          <p:cNvPr id="11" name="milestone-2-body">
            <a:extLst xmlns:a="http://schemas.openxmlformats.org/drawingml/2006/main">
              <a:ext uri="{FF2B5EF4-FFF2-40B4-BE49-F238E27FC236}">
                <a16:creationId xmlns:a16="http://schemas.microsoft.com/office/drawing/2014/main" id="{C49285A0-68A7-4141-A7A6-99AF371A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867150"/>
            <a:ext cx="31432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Mobile Lernstrecke und Fortschritt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Moodle-Inhalte importieren und verwalten</a:t>
            </a:r>
          </a:p>
        </p:txBody>
      </p:sp>
      <p:sp>
        <p:nvSpPr>
          <p:cNvPr id="12" name="milestone-3-label">
            <a:extLst xmlns:a="http://schemas.openxmlformats.org/drawingml/2006/main">
              <a:ext uri="{FF2B5EF4-FFF2-40B4-BE49-F238E27FC236}">
                <a16:creationId xmlns:a16="http://schemas.microsoft.com/office/drawing/2014/main" id="{0C0FC3A8-3EBF-4BF5-AB9B-FC5777356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2286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ETAPPE 3</a:t>
            </a:r>
          </a:p>
        </p:txBody>
      </p:sp>
      <p:sp>
        <p:nvSpPr>
          <p:cNvPr id="13" name="milestone-3-dot">
            <a:extLst xmlns:a="http://schemas.openxmlformats.org/drawingml/2006/main">
              <a:ext uri="{FF2B5EF4-FFF2-40B4-BE49-F238E27FC236}">
                <a16:creationId xmlns:a16="http://schemas.microsoft.com/office/drawing/2014/main" id="{E0A8EE17-0181-4E21-9520-292425C2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718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milestone-3-title">
            <a:extLst xmlns:a="http://schemas.openxmlformats.org/drawingml/2006/main">
              <a:ext uri="{FF2B5EF4-FFF2-40B4-BE49-F238E27FC236}">
                <a16:creationId xmlns:a16="http://schemas.microsoft.com/office/drawing/2014/main" id="{CB19A1F1-EE67-4A8E-8E81-11D9A2FA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90900"/>
            <a:ext cx="3143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Sicher starten</a:t>
            </a:r>
          </a:p>
        </p:txBody>
      </p:sp>
      <p:sp>
        <p:nvSpPr>
          <p:cNvPr id="15" name="milestone-3-body">
            <a:extLst xmlns:a="http://schemas.openxmlformats.org/drawingml/2006/main">
              <a:ext uri="{FF2B5EF4-FFF2-40B4-BE49-F238E27FC236}">
                <a16:creationId xmlns:a16="http://schemas.microsoft.com/office/drawing/2014/main" id="{C049ED74-A57B-43E7-841D-29ED4151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67150"/>
            <a:ext cx="314325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Sicherheit, Lasttest und Pilot</a:t>
            </a:r>
          </a:p>
          <a:p xmlns:a="http://schemas.openxmlformats.org/drawingml/2006/main">
            <a:pPr algn="l">
              <a:lnSpc>
                <a:spcPct val="112000"/>
              </a:lnSpc>
              <a:spcAft>
                <a:spcPts val="520"/>
              </a:spcAft>
              <a:buNone/>
              <a:def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Finale Migration und Moodle-Stilllegung</a:t>
            </a:r>
          </a:p>
        </p:txBody>
      </p:sp>
      <p:sp>
        <p:nvSpPr>
          <p:cNvPr id="16" name="decision-band">
            <a:extLst xmlns:a="http://schemas.openxmlformats.org/drawingml/2006/main">
              <a:ext uri="{FF2B5EF4-FFF2-40B4-BE49-F238E27FC236}">
                <a16:creationId xmlns:a16="http://schemas.microsoft.com/office/drawing/2014/main" id="{44646489-277E-47A0-AA38-6DAB38594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19750"/>
            <a:ext cx="114014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0">
            <a:solidFill>
              <a:srgbClr val="EAF5FB"/>
            </a:solidFill>
            <a:prstDash val="solid"/>
          </a:ln>
        </p:spPr>
      </p:sp>
      <p:sp>
        <p:nvSpPr>
          <p:cNvPr id="17" name="decision-callout">
            <a:extLst xmlns:a="http://schemas.openxmlformats.org/drawingml/2006/main">
              <a:ext uri="{FF2B5EF4-FFF2-40B4-BE49-F238E27FC236}">
                <a16:creationId xmlns:a16="http://schemas.microsoft.com/office/drawing/2014/main" id="{73BBC2BB-27C9-4CC9-A9E6-DAC0F5F6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781675"/>
            <a:ext cx="7429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Nächster Schritt: Zielarchitektur freigeben und Plattformgrundlage starten.</a:t>
            </a:r>
          </a:p>
        </p:txBody>
      </p:sp>
      <p:sp>
        <p:nvSpPr>
          <p:cNvPr id="18" name="future-callout">
            <a:extLst xmlns:a="http://schemas.openxmlformats.org/drawingml/2006/main">
              <a:ext uri="{FF2B5EF4-FFF2-40B4-BE49-F238E27FC236}">
                <a16:creationId xmlns:a16="http://schemas.microsoft.com/office/drawing/2014/main" id="{96960D24-B2D6-40A1-88E4-2F56EAA7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781675"/>
            <a:ext cx="32861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1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Danach: KI-Tutor und adaptives Lernen</a:t>
            </a:r>
          </a:p>
        </p:txBody>
      </p:sp>
      <p:sp>
        <p:nvSpPr>
          <p:cNvPr id="19" name="source-3">
            <a:extLst xmlns:a="http://schemas.openxmlformats.org/drawingml/2006/main">
              <a:ext uri="{FF2B5EF4-FFF2-40B4-BE49-F238E27FC236}">
                <a16:creationId xmlns:a16="http://schemas.microsoft.com/office/drawing/2014/main" id="{5DEA7298-1D4E-42C0-9C6D-B77C0439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34125"/>
            <a:ext cx="495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825">
                <a:solidFill>
                  <a:srgbClr val="5963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59636E"/>
                </a:solidFill>
                <a:latin typeface="Helvetica Neue"/>
                <a:ea typeface="Helvetica Neue"/>
                <a:cs typeface="Helvetica Neue"/>
              </a:rPr>
              <a:t>Scariev Lernplattform · Architekturentwurf · 16.07.2026</a:t>
            </a:r>
          </a:p>
        </p:txBody>
      </p:sp>
      <p:sp>
        <p:nvSpPr>
          <p:cNvPr id="20" name="page-3">
            <a:extLst xmlns:a="http://schemas.openxmlformats.org/drawingml/2006/main">
              <a:ext uri="{FF2B5EF4-FFF2-40B4-BE49-F238E27FC236}">
                <a16:creationId xmlns:a16="http://schemas.microsoft.com/office/drawing/2014/main" id="{38B2E1B2-456D-4780-B2F7-1D38D012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342868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2026-07-16T14:19:07.3500000Z</dcterms:created>
  <dcterms:modified xsi:type="dcterms:W3CDTF">2026-07-16T14:19:07.3500000Z</dcterms:modified>
</coreProperties>
</file>