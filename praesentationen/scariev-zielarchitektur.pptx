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3d28e2f8e499b" /><Relationship Type="http://schemas.openxmlformats.org/officeDocument/2006/relationships/extended-properties" Target="/docProps/app.xml" Id="R2a9cc0a81f584f51" /><Relationship Type="http://schemas.openxmlformats.org/officeDocument/2006/relationships/officeDocument" Target="/ppt/presentation.xml" Id="R26ab023eab3a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23faf2a50467d"/>
  </p:sldMasterIdLst>
  <p:notesMasterIdLst>
    <p:notesMasterId xmlns:r="http://schemas.openxmlformats.org/officeDocument/2006/relationships" r:id="Re437cf1515614447"/>
  </p:notesMasterIdLst>
  <p:sldIdLst>
    <p:sldId xmlns:r="http://schemas.openxmlformats.org/officeDocument/2006/relationships" id="256" r:id="R800b3f366936486c"/>
    <p:sldId xmlns:r="http://schemas.openxmlformats.org/officeDocument/2006/relationships" id="257" r:id="R709370246dec4ed2"/>
    <p:sldId xmlns:r="http://schemas.openxmlformats.org/officeDocument/2006/relationships" id="258" r:id="R3d5176fbee1142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95fc7a5204c87" /><Relationship Type="http://schemas.openxmlformats.org/officeDocument/2006/relationships/slideMaster" Target="/ppt/slideMasters/slideMaster1.xml" Id="Rd5423faf2a50467d" /><Relationship Type="http://schemas.openxmlformats.org/officeDocument/2006/relationships/notesMaster" Target="/ppt/notesMasters/notesMaster1.xml" Id="Re437cf1515614447" /><Relationship Type="http://schemas.openxmlformats.org/officeDocument/2006/relationships/presProps" Target="/ppt/presProps.xml" Id="Ra31ad8d150534a02" /><Relationship Type="http://schemas.openxmlformats.org/officeDocument/2006/relationships/tableStyles" Target="/ppt/tableStyles.xml" Id="R033f6cd27e044361" /><Relationship Type="http://schemas.openxmlformats.org/officeDocument/2006/relationships/slide" Target="/ppt/slides/slide1.xml" Id="R800b3f366936486c" /><Relationship Type="http://schemas.openxmlformats.org/officeDocument/2006/relationships/slide" Target="/ppt/slides/slide2.xml" Id="R709370246dec4ed2" /><Relationship Type="http://schemas.openxmlformats.org/officeDocument/2006/relationships/slide" Target="/ppt/slides/slide3.xml" Id="R3d5176fbee1142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9c5d6298204a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4ae429fa5d4259" /><Relationship Type="http://schemas.openxmlformats.org/officeDocument/2006/relationships/notesMaster" Target="/ppt/notesMasters/notesMaster1.xml" Id="R94f11cc679f3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1e3c6ab370406b" /><Relationship Type="http://schemas.openxmlformats.org/officeDocument/2006/relationships/notesMaster" Target="/ppt/notesMasters/notesMaster1.xml" Id="R15d75f608cee43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b0c4b6bdec4cba" /><Relationship Type="http://schemas.openxmlformats.org/officeDocument/2006/relationships/notesMaster" Target="/ppt/notesMasters/notesMaster1.xml" Id="Rf0934cf28379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5ad22fd27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8813fa3214653" /><Relationship Type="http://schemas.openxmlformats.org/officeDocument/2006/relationships/slideLayout" Target="/ppt/slideLayouts/slideLayout1.xml" Id="R2e02c583c0b5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2c583c0b5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8d8dd93364926" /><Relationship Type="http://schemas.openxmlformats.org/officeDocument/2006/relationships/notesSlide" Target="/ppt/notesSlides/notesSlide1.xml" Id="R9ec56619c410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ec38369184504" /><Relationship Type="http://schemas.openxmlformats.org/officeDocument/2006/relationships/notesSlide" Target="/ppt/notesSlides/notesSlide2.xml" Id="Re7ab9cd274d24e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91a7447f64fbf" /><Relationship Type="http://schemas.openxmlformats.org/officeDocument/2006/relationships/notesSlide" Target="/ppt/notesSlides/notesSlide3.xml" Id="R242693d6866641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49324F8F-5582-4C7B-9DCE-5AF9359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429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Ein modularer Monolith verbindet Web, API und Administration</a:t>
            </a:r>
          </a:p>
        </p:txBody>
      </p:sp>
      <p:sp>
        <p:nvSpPr>
          <p:cNvPr id="2" name="slide-1-summary">
            <a:extLst xmlns:a="http://schemas.openxmlformats.org/drawingml/2006/main">
              <a:ext uri="{FF2B5EF4-FFF2-40B4-BE49-F238E27FC236}">
                <a16:creationId xmlns:a16="http://schemas.microsoft.com/office/drawing/2014/main" id="{0FB026A9-9147-4377-B791-9CDC765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2197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Web, Admin und API werden gemeinsam bereitgestellt; verwaltete Dienste übernehmen Identität, Daten und Medien.</a:t>
            </a:r>
          </a:p>
        </p:txBody>
      </p:sp>
      <p:sp>
        <p:nvSpPr>
          <p:cNvPr id="3" name="slide-1-stat-peak">
            <a:extLst xmlns:a="http://schemas.openxmlformats.org/drawingml/2006/main">
              <a:ext uri="{FF2B5EF4-FFF2-40B4-BE49-F238E27FC236}">
                <a16:creationId xmlns:a16="http://schemas.microsoft.com/office/drawing/2014/main" id="{90CBA21A-BA15-4D79-ACEF-90E06998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171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3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2.000</a:t>
            </a:r>
          </a:p>
        </p:txBody>
      </p:sp>
      <p:sp>
        <p:nvSpPr>
          <p:cNvPr id="4" name="slide-1-stat-peak-label">
            <a:extLst xmlns:a="http://schemas.openxmlformats.org/drawingml/2006/main">
              <a:ext uri="{FF2B5EF4-FFF2-40B4-BE49-F238E27FC236}">
                <a16:creationId xmlns:a16="http://schemas.microsoft.com/office/drawing/2014/main" id="{FD249DE0-77AD-42FC-BB1B-B48B671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gleichzeitig aktive Lernende</a:t>
            </a:r>
          </a:p>
        </p:txBody>
      </p:sp>
      <p:sp>
        <p:nvSpPr>
          <p:cNvPr id="5" name="slide-1-stat-total">
            <a:extLst xmlns:a="http://schemas.openxmlformats.org/drawingml/2006/main">
              <a:ext uri="{FF2B5EF4-FFF2-40B4-BE49-F238E27FC236}">
                <a16:creationId xmlns:a16="http://schemas.microsoft.com/office/drawing/2014/main" id="{5A52E356-B320-4E6D-8676-EEE8683A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1809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10.000</a:t>
            </a:r>
          </a:p>
        </p:txBody>
      </p:sp>
      <p:sp>
        <p:nvSpPr>
          <p:cNvPr id="6" name="slide-1-stat-total-label">
            <a:extLst xmlns:a="http://schemas.openxmlformats.org/drawingml/2006/main">
              <a:ext uri="{FF2B5EF4-FFF2-40B4-BE49-F238E27FC236}">
                <a16:creationId xmlns:a16="http://schemas.microsoft.com/office/drawing/2014/main" id="{47C6857A-A3D2-43DD-9031-48C64E6C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261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registrierte Nutzer als Zielgröße</a:t>
            </a:r>
          </a:p>
        </p:txBody>
      </p:sp>
      <p:sp>
        <p:nvSpPr>
          <p:cNvPr id="7" name="slide-1-accent-rule">
            <a:extLst xmlns:a="http://schemas.openxmlformats.org/drawingml/2006/main">
              <a:ext uri="{FF2B5EF4-FFF2-40B4-BE49-F238E27FC236}">
                <a16:creationId xmlns:a16="http://schemas.microsoft.com/office/drawing/2014/main" id="{B95FE22A-A5A8-4A9A-9285-C972D6A7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slide-1-tech">
            <a:extLst xmlns:a="http://schemas.openxmlformats.org/drawingml/2006/main">
              <a:ext uri="{FF2B5EF4-FFF2-40B4-BE49-F238E27FC236}">
                <a16:creationId xmlns:a16="http://schemas.microsoft.com/office/drawing/2014/main" id="{5E2A5AC3-04CE-46EA-AB36-0EB1D29F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Next.js · TypeScript · PostgreSQL · AWS EU</a:t>
            </a:r>
          </a:p>
        </p:txBody>
      </p:sp>
      <p:sp>
        <p:nvSpPr>
          <p:cNvPr id="9" name="slide-1-tech-2">
            <a:extLst xmlns:a="http://schemas.openxmlformats.org/drawingml/2006/main">
              <a:ext uri="{FF2B5EF4-FFF2-40B4-BE49-F238E27FC236}">
                <a16:creationId xmlns:a16="http://schemas.microsoft.com/office/drawing/2014/main" id="{4706FD47-3420-455B-A3DC-C3073B7F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102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OIDC · S3 · Warteschlange · strukturierte Überwachung</a:t>
            </a:r>
          </a:p>
        </p:txBody>
      </p:sp>
      <p:sp>
        <p:nvSpPr>
          <p:cNvPr id="10" name="architecture-field">
            <a:extLst xmlns:a="http://schemas.openxmlformats.org/drawingml/2006/main">
              <a:ext uri="{FF2B5EF4-FFF2-40B4-BE49-F238E27FC236}">
                <a16:creationId xmlns:a16="http://schemas.microsoft.com/office/drawing/2014/main" id="{407079BE-713A-4638-8968-B60D712C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45" name="users-to-bus"/>
          <p:cNvCxnSpPr/>
          <p:nvPr/>
        </p:nvCxnSpPr>
        <p:spPr>
          <a:xfrm xmlns:a="http://schemas.openxmlformats.org/drawingml/2006/main">
            <a:off x="7286625" y="1257300"/>
            <a:ext cx="95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6" name="admin-to-bus"/>
          <p:cNvCxnSpPr/>
          <p:nvPr/>
        </p:nvCxnSpPr>
        <p:spPr>
          <a:xfrm xmlns:a="http://schemas.openxmlformats.org/drawingml/2006/main">
            <a:off x="10715625" y="1257300"/>
            <a:ext cx="95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7" name="top-bus"/>
          <p:cNvCxnSpPr/>
          <p:nvPr/>
        </p:nvCxnSpPr>
        <p:spPr>
          <a:xfrm xmlns:a="http://schemas.openxmlformats.org/drawingml/2006/main">
            <a:off x="7286625" y="1428750"/>
            <a:ext cx="342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8" name="bus-to-edge"/>
          <p:cNvCxnSpPr/>
          <p:nvPr/>
        </p:nvCxnSpPr>
        <p:spPr>
          <a:xfrm xmlns:a="http://schemas.openxmlformats.org/drawingml/2006/main">
            <a:off x="9001125" y="1428750"/>
            <a:ext cx="953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9" name="edge-to-platform"/>
          <p:cNvCxnSpPr/>
          <p:nvPr/>
        </p:nvCxnSpPr>
        <p:spPr>
          <a:xfrm xmlns:a="http://schemas.openxmlformats.org/drawingml/2006/main">
            <a:off x="9001125" y="2114550"/>
            <a:ext cx="95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0" name="platform-to-services"/>
          <p:cNvCxnSpPr/>
          <p:nvPr/>
        </p:nvCxnSpPr>
        <p:spPr>
          <a:xfrm xmlns:a="http://schemas.openxmlformats.org/drawingml/2006/main">
            <a:off x="9001125" y="3429000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7" name="learner-box">
            <a:extLst xmlns:a="http://schemas.openxmlformats.org/drawingml/2006/main">
              <a:ext uri="{FF2B5EF4-FFF2-40B4-BE49-F238E27FC236}">
                <a16:creationId xmlns:a16="http://schemas.microsoft.com/office/drawing/2014/main" id="{AA4B996B-461A-427E-B0FC-14216AC5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62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learner-label">
            <a:extLst xmlns:a="http://schemas.openxmlformats.org/drawingml/2006/main">
              <a:ext uri="{FF2B5EF4-FFF2-40B4-BE49-F238E27FC236}">
                <a16:creationId xmlns:a16="http://schemas.microsoft.com/office/drawing/2014/main" id="{7A104DF9-BF8D-4703-A10D-BE2D6B56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00100"/>
            <a:ext cx="1276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54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Lernende
Mobile Web / PWA</a:t>
            </a:r>
          </a:p>
        </p:txBody>
      </p:sp>
      <p:sp>
        <p:nvSpPr>
          <p:cNvPr id="19" name="admin-box">
            <a:extLst xmlns:a="http://schemas.openxmlformats.org/drawingml/2006/main">
              <a:ext uri="{FF2B5EF4-FFF2-40B4-BE49-F238E27FC236}">
                <a16:creationId xmlns:a16="http://schemas.microsoft.com/office/drawing/2014/main" id="{243A07B1-6530-4F3F-8F11-FBAA865F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62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dmin-label">
            <a:extLst xmlns:a="http://schemas.openxmlformats.org/drawingml/2006/main">
              <a:ext uri="{FF2B5EF4-FFF2-40B4-BE49-F238E27FC236}">
                <a16:creationId xmlns:a16="http://schemas.microsoft.com/office/drawing/2014/main" id="{6217A192-969B-46C4-A224-C6E3D3FF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00100"/>
            <a:ext cx="1276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Administration
MFA + Rollen</a:t>
            </a:r>
          </a:p>
        </p:txBody>
      </p:sp>
      <p:sp>
        <p:nvSpPr>
          <p:cNvPr id="21" name="edge-box">
            <a:extLst xmlns:a="http://schemas.openxmlformats.org/drawingml/2006/main">
              <a:ext uri="{FF2B5EF4-FFF2-40B4-BE49-F238E27FC236}">
                <a16:creationId xmlns:a16="http://schemas.microsoft.com/office/drawing/2014/main" id="{5574DF8C-2627-46FA-A2A4-81CC6D8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80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edge-label">
            <a:extLst xmlns:a="http://schemas.openxmlformats.org/drawingml/2006/main">
              <a:ext uri="{FF2B5EF4-FFF2-40B4-BE49-F238E27FC236}">
                <a16:creationId xmlns:a16="http://schemas.microsoft.com/office/drawing/2014/main" id="{6CBCA85A-2937-41DE-BBD8-58162D09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Cloud-Zugang
CDN + WAF</a:t>
            </a:r>
          </a:p>
        </p:txBody>
      </p:sp>
      <p:sp>
        <p:nvSpPr>
          <p:cNvPr id="23" name="platform-box">
            <a:extLst xmlns:a="http://schemas.openxmlformats.org/drawingml/2006/main">
              <a:ext uri="{FF2B5EF4-FFF2-40B4-BE49-F238E27FC236}">
                <a16:creationId xmlns:a16="http://schemas.microsoft.com/office/drawing/2014/main" id="{CBED08A8-F261-43CD-9B4B-5FE55B9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platform-title">
            <a:extLst xmlns:a="http://schemas.openxmlformats.org/drawingml/2006/main">
              <a:ext uri="{FF2B5EF4-FFF2-40B4-BE49-F238E27FC236}">
                <a16:creationId xmlns:a16="http://schemas.microsoft.com/office/drawing/2014/main" id="{A8FA13FF-BD47-4FE7-96FB-59F386D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098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Next.js Plattform</a:t>
            </a:r>
          </a:p>
        </p:txBody>
      </p:sp>
      <p:sp>
        <p:nvSpPr>
          <p:cNvPr id="25" name="platform-surfaces">
            <a:extLst xmlns:a="http://schemas.openxmlformats.org/drawingml/2006/main">
              <a:ext uri="{FF2B5EF4-FFF2-40B4-BE49-F238E27FC236}">
                <a16:creationId xmlns:a16="http://schemas.microsoft.com/office/drawing/2014/main" id="{77FC2554-482F-4226-BEF9-7D60C63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337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Web/PWA · Admin · HTTP-API</a:t>
            </a:r>
          </a:p>
        </p:txBody>
      </p:sp>
      <p:sp>
        <p:nvSpPr>
          <p:cNvPr id="26" name="platform-modules">
            <a:extLst xmlns:a="http://schemas.openxmlformats.org/drawingml/2006/main">
              <a:ext uri="{FF2B5EF4-FFF2-40B4-BE49-F238E27FC236}">
                <a16:creationId xmlns:a16="http://schemas.microsoft.com/office/drawing/2014/main" id="{7BE8FD03-CBF6-4E8C-9663-2F6C7541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90875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Zugang · Inhalte · Lernen · Import</a:t>
            </a:r>
          </a:p>
        </p:txBody>
      </p:sp>
      <p:sp>
        <p:nvSpPr>
          <p:cNvPr id="27" name="services-box">
            <a:extLst xmlns:a="http://schemas.openxmlformats.org/drawingml/2006/main">
              <a:ext uri="{FF2B5EF4-FFF2-40B4-BE49-F238E27FC236}">
                <a16:creationId xmlns:a16="http://schemas.microsoft.com/office/drawing/2014/main" id="{6C431641-69ED-44C8-98CA-8B20C7E7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ervices-title">
            <a:extLst xmlns:a="http://schemas.openxmlformats.org/drawingml/2006/main">
              <a:ext uri="{FF2B5EF4-FFF2-40B4-BE49-F238E27FC236}">
                <a16:creationId xmlns:a16="http://schemas.microsoft.com/office/drawing/2014/main" id="{B7327F6F-1134-4992-BF08-4776C5A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438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Verwaltete Dienste</a:t>
            </a:r>
          </a:p>
        </p:txBody>
      </p:sp>
      <p:sp>
        <p:nvSpPr>
          <p:cNvPr id="29" name="services-list">
            <a:extLst xmlns:a="http://schemas.openxmlformats.org/drawingml/2006/main">
              <a:ext uri="{FF2B5EF4-FFF2-40B4-BE49-F238E27FC236}">
                <a16:creationId xmlns:a16="http://schemas.microsoft.com/office/drawing/2014/main" id="{64A30DB8-997C-4BA0-AC67-8CDFC92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OIDC · PostgreSQL · S3 · Warteschlange &amp; Hintergrundjobs</a:t>
            </a:r>
          </a:p>
        </p:txBody>
      </p:sp>
      <p:sp>
        <p:nvSpPr>
          <p:cNvPr id="30" name="operations-box">
            <a:extLst xmlns:a="http://schemas.openxmlformats.org/drawingml/2006/main">
              <a:ext uri="{FF2B5EF4-FFF2-40B4-BE49-F238E27FC236}">
                <a16:creationId xmlns:a16="http://schemas.microsoft.com/office/drawing/2014/main" id="{5F7DACBE-788A-4F1B-B56B-FF876E95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operations-label">
            <a:extLst xmlns:a="http://schemas.openxmlformats.org/drawingml/2006/main">
              <a:ext uri="{FF2B5EF4-FFF2-40B4-BE49-F238E27FC236}">
                <a16:creationId xmlns:a16="http://schemas.microsoft.com/office/drawing/2014/main" id="{C307E858-8CD1-45DE-A662-FE8927F5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33975"/>
            <a:ext cx="438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AWS EU · Skalierung
Protokolle/Metriken · Zustandsprüfungen</a:t>
            </a:r>
          </a:p>
        </p:txBody>
      </p:sp>
      <p:sp>
        <p:nvSpPr>
          <p:cNvPr id="32" name="future-ai-note">
            <a:extLst xmlns:a="http://schemas.openxmlformats.org/drawingml/2006/main">
              <a:ext uri="{FF2B5EF4-FFF2-40B4-BE49-F238E27FC236}">
                <a16:creationId xmlns:a16="http://schemas.microsoft.com/office/drawing/2014/main" id="{05C3776C-F209-4ECB-91AF-E5ED005D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340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Später: KI-Tutor über kontrollierte Schnittstelle</a:t>
            </a:r>
          </a:p>
        </p:txBody>
      </p:sp>
      <p:sp>
        <p:nvSpPr>
          <p:cNvPr id="33" name="source-1">
            <a:extLst xmlns:a="http://schemas.openxmlformats.org/drawingml/2006/main">
              <a:ext uri="{FF2B5EF4-FFF2-40B4-BE49-F238E27FC236}">
                <a16:creationId xmlns:a16="http://schemas.microsoft.com/office/drawing/2014/main" id="{847DFB45-B55E-4DE3-81FD-FDF72EB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34" name="page-1">
            <a:extLst xmlns:a="http://schemas.openxmlformats.org/drawingml/2006/main">
              <a:ext uri="{FF2B5EF4-FFF2-40B4-BE49-F238E27FC236}">
                <a16:creationId xmlns:a16="http://schemas.microsoft.com/office/drawing/2014/main" id="{67C00B60-52F0-42DC-BB9B-378A2D7F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45331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815508C-6830-4A89-8A5D-DC351A3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Versionierte Inhalte und Administration sichern den Betrieb</a:t>
            </a:r>
          </a:p>
        </p:txBody>
      </p:sp>
      <p:cxnSp>
        <p:nvCxnSpPr>
          <p:cNvPr id="25" name="slide-2-vertical-rule"/>
          <p:cNvCxnSpPr/>
          <p:nvPr/>
        </p:nvCxnSpPr>
        <p:spPr>
          <a:xfrm xmlns:a="http://schemas.openxmlformats.org/drawingml/2006/main">
            <a:off x="6096000" y="1828800"/>
            <a:ext cx="953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6" name="slide-2-horizontal-rule"/>
          <p:cNvCxnSpPr/>
          <p:nvPr/>
        </p:nvCxnSpPr>
        <p:spPr>
          <a:xfrm xmlns:a="http://schemas.openxmlformats.org/drawingml/2006/main">
            <a:off x="390525" y="3829050"/>
            <a:ext cx="1140142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quadrant-1-accent">
            <a:extLst xmlns:a="http://schemas.openxmlformats.org/drawingml/2006/main">
              <a:ext uri="{FF2B5EF4-FFF2-40B4-BE49-F238E27FC236}">
                <a16:creationId xmlns:a16="http://schemas.microsoft.com/office/drawing/2014/main" id="{2DFA85BE-C5F6-4C3D-8225-202E468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quadrant-1-number">
            <a:extLst xmlns:a="http://schemas.openxmlformats.org/drawingml/2006/main">
              <a:ext uri="{FF2B5EF4-FFF2-40B4-BE49-F238E27FC236}">
                <a16:creationId xmlns:a16="http://schemas.microsoft.com/office/drawing/2014/main" id="{F11688BD-8ABD-4ABD-93F1-CDB9231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quadrant-1-title">
            <a:extLst xmlns:a="http://schemas.openxmlformats.org/drawingml/2006/main">
              <a:ext uri="{FF2B5EF4-FFF2-40B4-BE49-F238E27FC236}">
                <a16:creationId xmlns:a16="http://schemas.microsoft.com/office/drawing/2014/main" id="{61846BD2-ADB4-45DB-A4B2-A47A2AE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47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Identität &amp; Zugang</a:t>
            </a:r>
          </a:p>
        </p:txBody>
      </p:sp>
      <p:sp>
        <p:nvSpPr>
          <p:cNvPr id="7" name="quadrant-1-body">
            <a:extLst xmlns:a="http://schemas.openxmlformats.org/drawingml/2006/main">
              <a:ext uri="{FF2B5EF4-FFF2-40B4-BE49-F238E27FC236}">
                <a16:creationId xmlns:a16="http://schemas.microsoft.com/office/drawing/2014/main" id="{B0AD83B4-C748-4412-ADA8-3D0FB0D9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UUID und OIDC trennen Konto und Anmeldung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Zugangsfreigabe mit Laufzeit und fester Prüfungsedition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Online-Kauf startet nach Zahlung; Print-Code erzeugt Freigabe</a:t>
            </a:r>
          </a:p>
        </p:txBody>
      </p:sp>
      <p:sp>
        <p:nvSpPr>
          <p:cNvPr id="8" name="quadrant-2-accent">
            <a:extLst xmlns:a="http://schemas.openxmlformats.org/drawingml/2006/main">
              <a:ext uri="{FF2B5EF4-FFF2-40B4-BE49-F238E27FC236}">
                <a16:creationId xmlns:a16="http://schemas.microsoft.com/office/drawing/2014/main" id="{277B81AB-8487-4EB0-957A-413F380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33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quadrant-2-number">
            <a:extLst xmlns:a="http://schemas.openxmlformats.org/drawingml/2006/main">
              <a:ext uri="{FF2B5EF4-FFF2-40B4-BE49-F238E27FC236}">
                <a16:creationId xmlns:a16="http://schemas.microsoft.com/office/drawing/2014/main" id="{7BFEB086-5583-40F6-9575-56F1D804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quadrant-2-title">
            <a:extLst xmlns:a="http://schemas.openxmlformats.org/drawingml/2006/main">
              <a:ext uri="{FF2B5EF4-FFF2-40B4-BE49-F238E27FC236}">
                <a16:creationId xmlns:a16="http://schemas.microsoft.com/office/drawing/2014/main" id="{909B9E6F-F5B0-4D1E-B052-5BFD66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47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Inhalte &amp; Lernen</a:t>
            </a:r>
          </a:p>
        </p:txBody>
      </p:sp>
      <p:sp>
        <p:nvSpPr>
          <p:cNvPr id="11" name="quadrant-2-body">
            <a:extLst xmlns:a="http://schemas.openxmlformats.org/drawingml/2006/main">
              <a:ext uri="{FF2B5EF4-FFF2-40B4-BE49-F238E27FC236}">
                <a16:creationId xmlns:a16="http://schemas.microsoft.com/office/drawing/2014/main" id="{3A2F6653-6B38-4B0E-90AC-1D631D5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860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Frage → unveränderliche Revision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Auslieferung → Antwortversuch → Fortschritt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Lösungen bleiben serverseitig; Historie bleibt prüfbar</a:t>
            </a:r>
          </a:p>
        </p:txBody>
      </p:sp>
      <p:sp>
        <p:nvSpPr>
          <p:cNvPr id="12" name="quadrant-3-accent">
            <a:extLst xmlns:a="http://schemas.openxmlformats.org/drawingml/2006/main">
              <a:ext uri="{FF2B5EF4-FFF2-40B4-BE49-F238E27FC236}">
                <a16:creationId xmlns:a16="http://schemas.microsoft.com/office/drawing/2014/main" id="{CD597920-E346-47AF-A6B1-248B41D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quadrant-3-number">
            <a:extLst xmlns:a="http://schemas.openxmlformats.org/drawingml/2006/main">
              <a:ext uri="{FF2B5EF4-FFF2-40B4-BE49-F238E27FC236}">
                <a16:creationId xmlns:a16="http://schemas.microsoft.com/office/drawing/2014/main" id="{62120229-C488-447E-B386-A4DA4E5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quadrant-3-title">
            <a:extLst xmlns:a="http://schemas.openxmlformats.org/drawingml/2006/main">
              <a:ext uri="{FF2B5EF4-FFF2-40B4-BE49-F238E27FC236}">
                <a16:creationId xmlns:a16="http://schemas.microsoft.com/office/drawing/2014/main" id="{F5634574-72FE-4EC7-B778-AF0D4A5C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 &amp; Administration</a:t>
            </a:r>
          </a:p>
        </p:txBody>
      </p:sp>
      <p:sp>
        <p:nvSpPr>
          <p:cNvPr id="15" name="quadrant-3-body">
            <a:extLst xmlns:a="http://schemas.openxmlformats.org/drawingml/2006/main">
              <a:ext uri="{FF2B5EF4-FFF2-40B4-BE49-F238E27FC236}">
                <a16:creationId xmlns:a16="http://schemas.microsoft.com/office/drawing/2014/main" id="{6C19D5B4-6971-494B-A724-83C7127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339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Aus Moodle werden nur Fragen, Formeln und Bilder übernommen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Import → Prüfung → Vorschau → Veröffentlichung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Admin verwaltet Nutzer, Zugänge, Codes und Inhalte</a:t>
            </a:r>
          </a:p>
        </p:txBody>
      </p:sp>
      <p:sp>
        <p:nvSpPr>
          <p:cNvPr id="16" name="quadrant-4-accent">
            <a:extLst xmlns:a="http://schemas.openxmlformats.org/drawingml/2006/main">
              <a:ext uri="{FF2B5EF4-FFF2-40B4-BE49-F238E27FC236}">
                <a16:creationId xmlns:a16="http://schemas.microsoft.com/office/drawing/2014/main" id="{E2191EC6-F1C9-4413-8094-9C3092CC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81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quadrant-4-number">
            <a:extLst xmlns:a="http://schemas.openxmlformats.org/drawingml/2006/main">
              <a:ext uri="{FF2B5EF4-FFF2-40B4-BE49-F238E27FC236}">
                <a16:creationId xmlns:a16="http://schemas.microsoft.com/office/drawing/2014/main" id="{5E80078E-758A-42E2-9AB7-FCE85C17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529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quadrant-4-title">
            <a:extLst xmlns:a="http://schemas.openxmlformats.org/drawingml/2006/main">
              <a:ext uri="{FF2B5EF4-FFF2-40B4-BE49-F238E27FC236}">
                <a16:creationId xmlns:a16="http://schemas.microsoft.com/office/drawing/2014/main" id="{320E914E-620A-46CC-8A8E-682C21C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57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Sicherheit &amp; Skalierung</a:t>
            </a:r>
          </a:p>
        </p:txBody>
      </p:sp>
      <p:sp>
        <p:nvSpPr>
          <p:cNvPr id="19" name="quadrant-4-body">
            <a:extLst xmlns:a="http://schemas.openxmlformats.org/drawingml/2006/main">
              <a:ext uri="{FF2B5EF4-FFF2-40B4-BE49-F238E27FC236}">
                <a16:creationId xmlns:a16="http://schemas.microsoft.com/office/drawing/2014/main" id="{D3A2FD0A-9712-415F-99DE-C8A7C5F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339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MFA, Rollen und nachvollziehbares Änderungsprotokoll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Bereinigung, Verschlüsselung und getestete Sicherungen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Überwachung, Zustandsprüfungen und Lasttest mit Reserve</a:t>
            </a:r>
          </a:p>
        </p:txBody>
      </p:sp>
      <p:sp>
        <p:nvSpPr>
          <p:cNvPr id="20" name="slide-2-ai-rule">
            <a:extLst xmlns:a="http://schemas.openxmlformats.org/drawingml/2006/main">
              <a:ext uri="{FF2B5EF4-FFF2-40B4-BE49-F238E27FC236}">
                <a16:creationId xmlns:a16="http://schemas.microsoft.com/office/drawing/2014/main" id="{808D90B3-3BC7-4FC0-B44F-6C90857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slide-2-ai-note">
            <a:extLst xmlns:a="http://schemas.openxmlformats.org/drawingml/2006/main">
              <a:ext uri="{FF2B5EF4-FFF2-40B4-BE49-F238E27FC236}">
                <a16:creationId xmlns:a16="http://schemas.microsoft.com/office/drawing/2014/main" id="{DBBB3794-E4B0-4A25-BBF9-6A72E6D4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981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KI später: separat freischaltbar und über eine kontrollierte Schnittstelle angebunden.</a:t>
            </a:r>
          </a:p>
        </p:txBody>
      </p:sp>
      <p:sp>
        <p:nvSpPr>
          <p:cNvPr id="22" name="source-2">
            <a:extLst xmlns:a="http://schemas.openxmlformats.org/drawingml/2006/main">
              <a:ext uri="{FF2B5EF4-FFF2-40B4-BE49-F238E27FC236}">
                <a16:creationId xmlns:a16="http://schemas.microsoft.com/office/drawing/2014/main" id="{F669B7ED-8372-469F-9B08-A7B0DDF9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3" name="page-2">
            <a:extLst xmlns:a="http://schemas.openxmlformats.org/drawingml/2006/main">
              <a:ext uri="{FF2B5EF4-FFF2-40B4-BE49-F238E27FC236}">
                <a16:creationId xmlns:a16="http://schemas.microsoft.com/office/drawing/2014/main" id="{6FE31DE5-5410-43E1-AAF1-ABBB695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5474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5224D1D-098F-4753-AC05-71EECF8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Drei Etappen führen kontrolliert zur Ablösung von Moodle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38DF6DCB-B7E2-4FDC-8D0E-1BCDADA1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Die Admin-Funktionen wachsen in jeder Etappe mit – nicht erst nach dem Lern-MVP.</a:t>
            </a:r>
          </a:p>
        </p:txBody>
      </p:sp>
      <p:cxnSp>
        <p:nvCxnSpPr>
          <p:cNvPr id="23" name="timeline"/>
          <p:cNvCxnSpPr/>
          <p:nvPr/>
        </p:nvCxnSpPr>
        <p:spPr>
          <a:xfrm xmlns:a="http://schemas.openxmlformats.org/drawingml/2006/main">
            <a:off x="1047750" y="3038475"/>
            <a:ext cx="847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</a:ln>
        </p:spPr>
      </p:cxnSp>
      <p:sp>
        <p:nvSpPr>
          <p:cNvPr id="4" name="milestone-1-label">
            <a:extLst xmlns:a="http://schemas.openxmlformats.org/drawingml/2006/main">
              <a:ext uri="{FF2B5EF4-FFF2-40B4-BE49-F238E27FC236}">
                <a16:creationId xmlns:a16="http://schemas.microsoft.com/office/drawing/2014/main" id="{F8D0ADA2-DDDA-4766-A631-349E39E2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 0–1</a:t>
            </a:r>
          </a:p>
        </p:txBody>
      </p:sp>
      <p:sp>
        <p:nvSpPr>
          <p:cNvPr id="5" name="milestone-1-dot">
            <a:extLst xmlns:a="http://schemas.openxmlformats.org/drawingml/2006/main">
              <a:ext uri="{FF2B5EF4-FFF2-40B4-BE49-F238E27FC236}">
                <a16:creationId xmlns:a16="http://schemas.microsoft.com/office/drawing/2014/main" id="{CBC65DA9-7EF5-48BB-849E-059FF1F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milestone-1-title">
            <a:extLst xmlns:a="http://schemas.openxmlformats.org/drawingml/2006/main">
              <a:ext uri="{FF2B5EF4-FFF2-40B4-BE49-F238E27FC236}">
                <a16:creationId xmlns:a16="http://schemas.microsoft.com/office/drawing/2014/main" id="{7B28CF46-C6AF-4CAB-96A4-63200E3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Grundlage schaffen</a:t>
            </a:r>
          </a:p>
        </p:txBody>
      </p:sp>
      <p:sp>
        <p:nvSpPr>
          <p:cNvPr id="7" name="milestone-1-body">
            <a:extLst xmlns:a="http://schemas.openxmlformats.org/drawingml/2006/main">
              <a:ext uri="{FF2B5EF4-FFF2-40B4-BE49-F238E27FC236}">
                <a16:creationId xmlns:a16="http://schemas.microsoft.com/office/drawing/2014/main" id="{C2F90DCC-871C-4E0F-B8DF-5FC9246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AWS, Bereitstellung und Überwachung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OIDC, UUID und Zugangsmodell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Admin-Rollen, MFA und Änderungsprotokoll</a:t>
            </a:r>
          </a:p>
        </p:txBody>
      </p:sp>
      <p:sp>
        <p:nvSpPr>
          <p:cNvPr id="8" name="milestone-2-label">
            <a:extLst xmlns:a="http://schemas.openxmlformats.org/drawingml/2006/main">
              <a:ext uri="{FF2B5EF4-FFF2-40B4-BE49-F238E27FC236}">
                <a16:creationId xmlns:a16="http://schemas.microsoft.com/office/drawing/2014/main" id="{9C35550C-87D4-4FDA-A4C3-D5F6EA94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 2–3</a:t>
            </a:r>
          </a:p>
        </p:txBody>
      </p:sp>
      <p:sp>
        <p:nvSpPr>
          <p:cNvPr id="9" name="milestone-2-dot">
            <a:extLst xmlns:a="http://schemas.openxmlformats.org/drawingml/2006/main">
              <a:ext uri="{FF2B5EF4-FFF2-40B4-BE49-F238E27FC236}">
                <a16:creationId xmlns:a16="http://schemas.microsoft.com/office/drawing/2014/main" id="{85AD9B41-614C-4DB7-A669-321B4B6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milestone-2-title">
            <a:extLst xmlns:a="http://schemas.openxmlformats.org/drawingml/2006/main">
              <a:ext uri="{FF2B5EF4-FFF2-40B4-BE49-F238E27FC236}">
                <a16:creationId xmlns:a16="http://schemas.microsoft.com/office/drawing/2014/main" id="{0E082392-60CD-4D59-8A11-CD3F022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Lern-MVP &amp; Inhalte</a:t>
            </a:r>
          </a:p>
        </p:txBody>
      </p:sp>
      <p:sp>
        <p:nvSpPr>
          <p:cNvPr id="11" name="milestone-2-body">
            <a:extLst xmlns:a="http://schemas.openxmlformats.org/drawingml/2006/main">
              <a:ext uri="{FF2B5EF4-FFF2-40B4-BE49-F238E27FC236}">
                <a16:creationId xmlns:a16="http://schemas.microsoft.com/office/drawing/2014/main" id="{E01DC54B-B395-432B-914F-4A3E7D20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Mobile Lernstrecke, Antworten und Fortschritt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Nutzer-, Zugangs- und Codeverwaltung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Moodle-Inhalte importieren, prüfen und freigeben</a:t>
            </a:r>
          </a:p>
        </p:txBody>
      </p:sp>
      <p:sp>
        <p:nvSpPr>
          <p:cNvPr id="12" name="milestone-3-label">
            <a:extLst xmlns:a="http://schemas.openxmlformats.org/drawingml/2006/main">
              <a:ext uri="{FF2B5EF4-FFF2-40B4-BE49-F238E27FC236}">
                <a16:creationId xmlns:a16="http://schemas.microsoft.com/office/drawing/2014/main" id="{B9A4A63F-E715-4856-91A1-3C84EE5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13" name="milestone-3-dot">
            <a:extLst xmlns:a="http://schemas.openxmlformats.org/drawingml/2006/main">
              <a:ext uri="{FF2B5EF4-FFF2-40B4-BE49-F238E27FC236}">
                <a16:creationId xmlns:a16="http://schemas.microsoft.com/office/drawing/2014/main" id="{1AC73899-CA6D-4080-9472-FB18BE6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milestone-3-title">
            <a:extLst xmlns:a="http://schemas.openxmlformats.org/drawingml/2006/main">
              <a:ext uri="{FF2B5EF4-FFF2-40B4-BE49-F238E27FC236}">
                <a16:creationId xmlns:a16="http://schemas.microsoft.com/office/drawing/2014/main" id="{12102B07-FC17-43EC-9C22-94603E1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Produktiv gehen</a:t>
            </a:r>
          </a:p>
        </p:txBody>
      </p:sp>
      <p:sp>
        <p:nvSpPr>
          <p:cNvPr id="15" name="milestone-3-body">
            <a:extLst xmlns:a="http://schemas.openxmlformats.org/drawingml/2006/main">
              <a:ext uri="{FF2B5EF4-FFF2-40B4-BE49-F238E27FC236}">
                <a16:creationId xmlns:a16="http://schemas.microsoft.com/office/drawing/2014/main" id="{E80DAA71-AA76-408F-A23F-B417C6C6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Sicherheit, Barrierefreiheit und Wiederherstellung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Lasttest für 2.000 gleichzeitig Aktive plus Reserve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Pilot, finale Inhaltsmigration und Moodle-Stilllegung</a:t>
            </a:r>
          </a:p>
        </p:txBody>
      </p:sp>
      <p:sp>
        <p:nvSpPr>
          <p:cNvPr id="16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2D2C685B-439D-45F9-8D7B-87E03A97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01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BA1EF183-E910-48F3-A8C8-3EAEF23D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81675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Nächster Schritt: Zielarchitektur freigeben und Plattformgrundlage starten.</a:t>
            </a:r>
          </a:p>
        </p:txBody>
      </p:sp>
      <p:sp>
        <p:nvSpPr>
          <p:cNvPr id="18" name="future-callout">
            <a:extLst xmlns:a="http://schemas.openxmlformats.org/drawingml/2006/main">
              <a:ext uri="{FF2B5EF4-FFF2-40B4-BE49-F238E27FC236}">
                <a16:creationId xmlns:a16="http://schemas.microsoft.com/office/drawing/2014/main" id="{BE2794A3-6F85-4CF9-94D3-297D0A74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3286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Danach: KI-Tutor und adaptives Lernen</a:t>
            </a:r>
          </a:p>
        </p:txBody>
      </p:sp>
      <p:sp>
        <p:nvSpPr>
          <p:cNvPr id="19" name="source-3">
            <a:extLst xmlns:a="http://schemas.openxmlformats.org/drawingml/2006/main">
              <a:ext uri="{FF2B5EF4-FFF2-40B4-BE49-F238E27FC236}">
                <a16:creationId xmlns:a16="http://schemas.microsoft.com/office/drawing/2014/main" id="{296362C7-6114-4135-B5C9-5989638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0" name="page-3">
            <a:extLst xmlns:a="http://schemas.openxmlformats.org/drawingml/2006/main">
              <a:ext uri="{FF2B5EF4-FFF2-40B4-BE49-F238E27FC236}">
                <a16:creationId xmlns:a16="http://schemas.microsoft.com/office/drawing/2014/main" id="{824BF07A-E21B-4F0A-BEBA-3E6058AC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285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2026-07-16T19:41:57.3560000Z</dcterms:created>
  <dcterms:modified xsi:type="dcterms:W3CDTF">2026-07-16T19:41:57.3560000Z</dcterms:modified>
</coreProperties>
</file>