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9563d783db4996" /><Relationship Type="http://schemas.openxmlformats.org/officeDocument/2006/relationships/extended-properties" Target="/docProps/app.xml" Id="Rd3bb412959d24a6c" /><Relationship Type="http://schemas.openxmlformats.org/officeDocument/2006/relationships/officeDocument" Target="/ppt/presentation.xml" Id="Rf061b0bbea3e45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f3f42e97b8478c"/>
  </p:sldMasterIdLst>
  <p:notesMasterIdLst>
    <p:notesMasterId xmlns:r="http://schemas.openxmlformats.org/officeDocument/2006/relationships" r:id="Rb04e359d72c849af"/>
  </p:notesMasterIdLst>
  <p:sldIdLst>
    <p:sldId xmlns:r="http://schemas.openxmlformats.org/officeDocument/2006/relationships" id="256" r:id="R0e2ad66655984615"/>
    <p:sldId xmlns:r="http://schemas.openxmlformats.org/officeDocument/2006/relationships" id="257" r:id="Rb4686ae819314b02"/>
    <p:sldId xmlns:r="http://schemas.openxmlformats.org/officeDocument/2006/relationships" id="258" r:id="R86f574e5d98b432c"/>
    <p:sldId xmlns:r="http://schemas.openxmlformats.org/officeDocument/2006/relationships" id="259" r:id="R6afa14bfddab4f6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c001a36d9147ac" /><Relationship Type="http://schemas.openxmlformats.org/officeDocument/2006/relationships/slideMaster" Target="/ppt/slideMasters/slideMaster1.xml" Id="Re3f3f42e97b8478c" /><Relationship Type="http://schemas.openxmlformats.org/officeDocument/2006/relationships/notesMaster" Target="/ppt/notesMasters/notesMaster1.xml" Id="Rb04e359d72c849af" /><Relationship Type="http://schemas.openxmlformats.org/officeDocument/2006/relationships/presProps" Target="/ppt/presProps.xml" Id="R17a2ebc7c924494b" /><Relationship Type="http://schemas.openxmlformats.org/officeDocument/2006/relationships/tableStyles" Target="/ppt/tableStyles.xml" Id="R1d47ece686bb4022" /><Relationship Type="http://schemas.openxmlformats.org/officeDocument/2006/relationships/slide" Target="/ppt/slides/slide1.xml" Id="R0e2ad66655984615" /><Relationship Type="http://schemas.openxmlformats.org/officeDocument/2006/relationships/slide" Target="/ppt/slides/slide2.xml" Id="Rb4686ae819314b02" /><Relationship Type="http://schemas.openxmlformats.org/officeDocument/2006/relationships/slide" Target="/ppt/slides/slide3.xml" Id="R86f574e5d98b432c" /><Relationship Type="http://schemas.openxmlformats.org/officeDocument/2006/relationships/slide" Target="/ppt/slides/slide4.xml" Id="R6afa14bfddab4f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0157cd0e424d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ed0b4488eb47bc" /><Relationship Type="http://schemas.openxmlformats.org/officeDocument/2006/relationships/notesMaster" Target="/ppt/notesMasters/notesMaster1.xml" Id="R4c56760a5d3b45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4e8a3256cd4f5d" /><Relationship Type="http://schemas.openxmlformats.org/officeDocument/2006/relationships/notesMaster" Target="/ppt/notesMasters/notesMaster1.xml" Id="R45f48aac2b5c48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dde827fe99464e" /><Relationship Type="http://schemas.openxmlformats.org/officeDocument/2006/relationships/notesMaster" Target="/ppt/notesMasters/notesMaster1.xml" Id="R6e7e8faa0b204f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d0a3cbab7d413b" /><Relationship Type="http://schemas.openxmlformats.org/officeDocument/2006/relationships/notesMaster" Target="/ppt/notesMasters/notesMaster1.xml" Id="R928ac12f2d6945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Das Zielbild wird von oben nach unten gelesen: Lernende und Administration greifen über einen externen Schutzrand mit CDN und WAF auf die Plattform zu.</a:t>
            </a:r>
          </a:p>
          <a:p xmlns:a="http://schemas.openxmlformats.org/drawingml/2006/main">
            <a:r>
              <a:t>Der Hetzner Load Balancer verteilt die Anfragen auf mindestens zwei zustandslose App-Container. Dadurch kann die Web-Schicht für Prüfungsspitzen horizontal erweitert werden.</a:t>
            </a:r>
          </a:p>
          <a:p xmlns:a="http://schemas.openxmlformats.org/drawingml/2006/main">
            <a:r>
              <a:t>PostgreSQL hält die transaktionalen Fachdaten, Object Storage die Medien und Rohimporte; ein separater Worker verarbeitet lange Aufgaben, ohne den Lernbetrieb zu blockieren.</a:t>
            </a:r>
          </a:p>
          <a:p xmlns:a="http://schemas.openxmlformats.org/drawingml/2006/main">
            <a:r>
              <a:t>Hetzner stellt die Infrastruktur bereit. Betriebssystem, Anwendung, PostgreSQL-Hochverfügbarkeit, Patching, Monitoring und Restore-Proben bleiben klar zugeordnete Betriebsaufgaben. Quellen: https://docs.hetzner.com/networking/load-balancers/overview/ · https://docs.hetzner.com/networking/networks/overview/ · https://docs.hetzner.com/cloud/firewalls/overview/ · https://docs.hetzner.com/storage/object-storage/overview/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Diese Folie ordnet jede zentrale Anforderung direkt einer Architekturentscheidung zu.</a:t>
            </a:r>
          </a:p>
          <a:p xmlns:a="http://schemas.openxmlformats.org/drawingml/2006/main">
            <a:r>
              <a:t>Für Prüfungsspitzen wird nur die zustandslose App-Schicht vervielfacht. Der Load Balancer verteilt die Anfragen auf mindestens zwei Instanzen.</a:t>
            </a:r>
          </a:p>
          <a:p xmlns:a="http://schemas.openxmlformats.org/drawingml/2006/main">
            <a:r>
              <a:t>PostgreSQL bleibt die verlässliche Quelle für Berechtigungen, Editionen, Versuche und Fortschritt. Object Storage hält Medien und Importdateien.</a:t>
            </a:r>
          </a:p>
          <a:p xmlns:a="http://schemas.openxmlformats.org/drawingml/2006/main">
            <a:r>
              <a:t>Der modulare Monolith ist eine bewusste Startentscheidung: fachlich sauber getrennte Module, aber weniger verteilte Schnittstellen. Microservices oder Kubernetes folgen erst bei messbarem Bedarf.</a:t>
            </a:r>
          </a:p>
          <a:p xmlns:a="http://schemas.openxmlformats.org/drawingml/2006/main">
            <a:r>
              <a:t>Hetzner passt zum gewünschten EU-Hosting und stellt die benötigten Infrastrukturbausteine bereit. Der Betrieb von Anwendung, Betriebssystem und Datenbank bleibt jedoch unsere Verantwortung. Quellen: https://docs.hetzner.com/networking/load-balancers/overview/ · https://docs.hetzner.com/networking/networks/overview/ · https://docs.hetzner.com/cloud/firewalls/overview/ · https://docs.hetzner.com/storage/object-storage/overview/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Der Ablauf wird von oben nach unten erklärt: Identität, Berechtigung, Edition, Auslieferung und Speicherung.</a:t>
            </a:r>
          </a:p>
          <a:p xmlns:a="http://schemas.openxmlformats.org/drawingml/2006/main">
            <a:r>
              <a:t>OIDC löst nur die Anmeldung. Erst eine Zahlung oder ein Printcode erzeugt die fachliche Berechtigung für eine konkrete Edition und einen definierten Zeitraum.</a:t>
            </a:r>
          </a:p>
          <a:p xmlns:a="http://schemas.openxmlformats.org/drawingml/2006/main">
            <a:r>
              <a:t>Die App-Container bleiben zustandslos. Dadurch können zusätzliche Instanzen gestartet werden, ohne Nutzersitzungen oder Fortschritt zwischen Servern zu synchronisieren.</a:t>
            </a:r>
          </a:p>
          <a:p xmlns:a="http://schemas.openxmlformats.org/drawingml/2006/main">
            <a:r>
              <a:t>PostgreSQL speichert die transaktionalen Daten; Object Storage übernimmt große und unveränderliche Dateien wie Bilder, Formeln und Moodle-Rohimporte.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Die Umsetzung erfolgt in fünf nachvollziehbaren Schritten und endet jeweils mit einem prüfbaren Ergebnis.</a:t>
            </a:r>
          </a:p>
          <a:p xmlns:a="http://schemas.openxmlformats.org/drawingml/2006/main">
            <a:r>
              <a:t>Zuerst werden Infrastruktur, Automatisierung, Identität und Betriebsziele geschaffen. Danach folgt der fachliche MVP.</a:t>
            </a:r>
          </a:p>
          <a:p xmlns:a="http://schemas.openxmlformats.org/drawingml/2006/main">
            <a:r>
              <a:t>Die Migration wird nicht als einmaliger Import behandelt: mehrere Probeläufe decken Inhaltsfehler und Konflikte vor dem Produktionsstart auf.</a:t>
            </a:r>
          </a:p>
          <a:p xmlns:a="http://schemas.openxmlformats.org/drawingml/2006/main">
            <a:r>
              <a:t>Vor dem Go-live werden Security-, Last- und Restore-Tests durchgeführt. Der Pilot und eine geprobte Rückfalloption begrenzen das Einführungsrisiko.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1d00edde3940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9c9de6da614317" /><Relationship Type="http://schemas.openxmlformats.org/officeDocument/2006/relationships/slideLayout" Target="/ppt/slideLayouts/slideLayout1.xml" Id="R039c2eab902440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9c2eab902440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9055346a94608" /><Relationship Type="http://schemas.openxmlformats.org/officeDocument/2006/relationships/notesSlide" Target="/ppt/notesSlides/notesSlide1.xml" Id="R2815c60d998e47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5e79de56a48ad" /><Relationship Type="http://schemas.openxmlformats.org/officeDocument/2006/relationships/notesSlide" Target="/ppt/notesSlides/notesSlide2.xml" Id="R2cd947cb53d64e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8a67ceb3d4e1f" /><Relationship Type="http://schemas.openxmlformats.org/officeDocument/2006/relationships/notesSlide" Target="/ppt/notesSlides/notesSlide3.xml" Id="R715204f36a7645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a1aa65904243d0" /><Relationship Type="http://schemas.openxmlformats.org/officeDocument/2006/relationships/notesSlide" Target="/ppt/notesSlides/notesSlide4.xml" Id="R812582b9398f47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1-title">
            <a:extLst xmlns:a="http://schemas.openxmlformats.org/drawingml/2006/main">
              <a:ext uri="{FF2B5EF4-FFF2-40B4-BE49-F238E27FC236}">
                <a16:creationId xmlns:a16="http://schemas.microsoft.com/office/drawing/2014/main" id="{C7564171-524D-41A8-82D8-E2144444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7239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Zielarchitektur auf einen Blick</a:t>
            </a:r>
          </a:p>
        </p:txBody>
      </p:sp>
      <p:sp>
        <p:nvSpPr>
          <p:cNvPr id="2" name="s1-scale">
            <a:extLst xmlns:a="http://schemas.openxmlformats.org/drawingml/2006/main">
              <a:ext uri="{FF2B5EF4-FFF2-40B4-BE49-F238E27FC236}">
                <a16:creationId xmlns:a16="http://schemas.microsoft.com/office/drawing/2014/main" id="{B79A3FE4-56C6-420A-A81D-B9589133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7200"/>
            <a:ext cx="3619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Hetzner EU · 2.000 gleichzeitig</a:t>
            </a:r>
          </a:p>
        </p:txBody>
      </p:sp>
      <p:sp>
        <p:nvSpPr>
          <p:cNvPr id="3" name="s1-field">
            <a:extLst xmlns:a="http://schemas.openxmlformats.org/drawingml/2006/main">
              <a:ext uri="{FF2B5EF4-FFF2-40B4-BE49-F238E27FC236}">
                <a16:creationId xmlns:a16="http://schemas.microsoft.com/office/drawing/2014/main" id="{BC3B36CD-88FA-4293-8B7A-3A5504DC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66800"/>
            <a:ext cx="11430000" cy="5048250"/>
          </a:xfrm>
          <a:prstGeom xmlns:a="http://schemas.openxmlformats.org/drawingml/2006/main" prst="roundRect">
            <a:avLst>
              <a:gd name="adj" fmla="val 150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cxnSp>
        <p:nvCxnSpPr>
          <p:cNvPr id="163" name="s1-learner-bus"/>
          <p:cNvCxnSpPr/>
          <p:nvPr/>
        </p:nvCxnSpPr>
        <p:spPr>
          <a:xfrm xmlns:a="http://schemas.openxmlformats.org/drawingml/2006/main">
            <a:off x="1905000" y="2000250"/>
            <a:ext cx="953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cxnSp>
        <p:nvCxnSpPr>
          <p:cNvPr id="164" name="s1-admin-bus"/>
          <p:cNvCxnSpPr/>
          <p:nvPr/>
        </p:nvCxnSpPr>
        <p:spPr>
          <a:xfrm xmlns:a="http://schemas.openxmlformats.org/drawingml/2006/main">
            <a:off x="10287000" y="2000250"/>
            <a:ext cx="953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cxnSp>
        <p:nvCxnSpPr>
          <p:cNvPr id="165" name="s1-user-bus"/>
          <p:cNvCxnSpPr/>
          <p:nvPr/>
        </p:nvCxnSpPr>
        <p:spPr>
          <a:xfrm xmlns:a="http://schemas.openxmlformats.org/drawingml/2006/main">
            <a:off x="1905000" y="2143125"/>
            <a:ext cx="8382000" cy="953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cxnSp>
        <p:nvCxnSpPr>
          <p:cNvPr id="166" name="s1-bus-edge"/>
          <p:cNvCxnSpPr/>
          <p:nvPr/>
        </p:nvCxnSpPr>
        <p:spPr>
          <a:xfrm xmlns:a="http://schemas.openxmlformats.org/drawingml/2006/main">
            <a:off x="6096000" y="2143125"/>
            <a:ext cx="953" cy="952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cxnSp>
        <p:nvCxnSpPr>
          <p:cNvPr id="167" name="s1-edge-platform"/>
          <p:cNvCxnSpPr/>
          <p:nvPr/>
        </p:nvCxnSpPr>
        <p:spPr>
          <a:xfrm xmlns:a="http://schemas.openxmlformats.org/drawingml/2006/main">
            <a:off x="6096000" y="2809875"/>
            <a:ext cx="953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cxnSp>
        <p:nvCxnSpPr>
          <p:cNvPr id="168" name="s1-platform-ai"/>
          <p:cNvCxnSpPr/>
          <p:nvPr/>
        </p:nvCxnSpPr>
        <p:spPr>
          <a:xfrm xmlns:a="http://schemas.openxmlformats.org/drawingml/2006/main">
            <a:off x="8763000" y="3686175"/>
            <a:ext cx="857250" cy="953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cxnSp>
        <p:nvCxnSpPr>
          <p:cNvPr id="169" name="s1-platform-services"/>
          <p:cNvCxnSpPr/>
          <p:nvPr/>
        </p:nvCxnSpPr>
        <p:spPr>
          <a:xfrm xmlns:a="http://schemas.openxmlformats.org/drawingml/2006/main">
            <a:off x="5857875" y="4333875"/>
            <a:ext cx="953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cxnSp>
        <p:nvCxnSpPr>
          <p:cNvPr id="170" name="s1-services-bus"/>
          <p:cNvCxnSpPr/>
          <p:nvPr/>
        </p:nvCxnSpPr>
        <p:spPr>
          <a:xfrm xmlns:a="http://schemas.openxmlformats.org/drawingml/2006/main">
            <a:off x="2095500" y="4619625"/>
            <a:ext cx="7429500" cy="953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cxnSp>
        <p:nvCxnSpPr>
          <p:cNvPr id="171" name="s1-bus-oidc"/>
          <p:cNvCxnSpPr/>
          <p:nvPr/>
        </p:nvCxnSpPr>
        <p:spPr>
          <a:xfrm xmlns:a="http://schemas.openxmlformats.org/drawingml/2006/main">
            <a:off x="2095500" y="4619625"/>
            <a:ext cx="953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cxnSp>
        <p:nvCxnSpPr>
          <p:cNvPr id="172" name="s1-bus-db"/>
          <p:cNvCxnSpPr/>
          <p:nvPr/>
        </p:nvCxnSpPr>
        <p:spPr>
          <a:xfrm xmlns:a="http://schemas.openxmlformats.org/drawingml/2006/main">
            <a:off x="4572000" y="4619625"/>
            <a:ext cx="953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cxnSp>
        <p:nvCxnSpPr>
          <p:cNvPr id="173" name="s1-bus-storage"/>
          <p:cNvCxnSpPr/>
          <p:nvPr/>
        </p:nvCxnSpPr>
        <p:spPr>
          <a:xfrm xmlns:a="http://schemas.openxmlformats.org/drawingml/2006/main">
            <a:off x="7048500" y="4619625"/>
            <a:ext cx="953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cxnSp>
        <p:nvCxnSpPr>
          <p:cNvPr id="174" name="s1-bus-worker"/>
          <p:cNvCxnSpPr/>
          <p:nvPr/>
        </p:nvCxnSpPr>
        <p:spPr>
          <a:xfrm xmlns:a="http://schemas.openxmlformats.org/drawingml/2006/main">
            <a:off x="9525000" y="4619625"/>
            <a:ext cx="953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sp>
        <p:nvSpPr>
          <p:cNvPr id="16" name="s1-learner-box">
            <a:extLst xmlns:a="http://schemas.openxmlformats.org/drawingml/2006/main">
              <a:ext uri="{FF2B5EF4-FFF2-40B4-BE49-F238E27FC236}">
                <a16:creationId xmlns:a16="http://schemas.microsoft.com/office/drawing/2014/main" id="{CDDD8D86-7B9C-4A0C-9D9B-8554B107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2095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s1-learner-label">
            <a:extLst xmlns:a="http://schemas.openxmlformats.org/drawingml/2006/main">
              <a:ext uri="{FF2B5EF4-FFF2-40B4-BE49-F238E27FC236}">
                <a16:creationId xmlns:a16="http://schemas.microsoft.com/office/drawing/2014/main" id="{89C14375-6CB1-4C62-9E43-0CCD972E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466850"/>
            <a:ext cx="19431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Lernende</a:t>
            </a:r>
          </a:p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Web / PWA</a:t>
            </a:r>
          </a:p>
        </p:txBody>
      </p:sp>
      <p:sp>
        <p:nvSpPr>
          <p:cNvPr id="18" name="s1-admin-box">
            <a:extLst xmlns:a="http://schemas.openxmlformats.org/drawingml/2006/main">
              <a:ext uri="{FF2B5EF4-FFF2-40B4-BE49-F238E27FC236}">
                <a16:creationId xmlns:a16="http://schemas.microsoft.com/office/drawing/2014/main" id="{C4B77C50-93F1-40EC-83E3-B8424465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428750"/>
            <a:ext cx="2095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s1-admin-label">
            <a:extLst xmlns:a="http://schemas.openxmlformats.org/drawingml/2006/main">
              <a:ext uri="{FF2B5EF4-FFF2-40B4-BE49-F238E27FC236}">
                <a16:creationId xmlns:a16="http://schemas.microsoft.com/office/drawing/2014/main" id="{A97C7777-5627-492A-8C3D-DB297445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466850"/>
            <a:ext cx="19431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Administration</a:t>
            </a:r>
          </a:p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MFA + Rollen</a:t>
            </a:r>
          </a:p>
        </p:txBody>
      </p:sp>
      <p:sp>
        <p:nvSpPr>
          <p:cNvPr id="20" name="s1-edge-box">
            <a:extLst xmlns:a="http://schemas.openxmlformats.org/drawingml/2006/main">
              <a:ext uri="{FF2B5EF4-FFF2-40B4-BE49-F238E27FC236}">
                <a16:creationId xmlns:a16="http://schemas.microsoft.com/office/drawing/2014/main" id="{536B1937-9175-48C7-AC49-0298E612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38375"/>
            <a:ext cx="2667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s1-edge-label">
            <a:extLst xmlns:a="http://schemas.openxmlformats.org/drawingml/2006/main">
              <a:ext uri="{FF2B5EF4-FFF2-40B4-BE49-F238E27FC236}">
                <a16:creationId xmlns:a16="http://schemas.microsoft.com/office/drawing/2014/main" id="{8AC5EFA6-9F34-4E13-A6AD-4804117E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76475"/>
            <a:ext cx="2514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Externer CDN + WAF</a:t>
            </a:r>
          </a:p>
        </p:txBody>
      </p:sp>
      <p:sp>
        <p:nvSpPr>
          <p:cNvPr id="22" name="s1-platform">
            <a:extLst xmlns:a="http://schemas.openxmlformats.org/drawingml/2006/main">
              <a:ext uri="{FF2B5EF4-FFF2-40B4-BE49-F238E27FC236}">
                <a16:creationId xmlns:a16="http://schemas.microsoft.com/office/drawing/2014/main" id="{F9CE29B7-14A5-474A-908A-253F0FDF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48000"/>
            <a:ext cx="6000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3" name="s1-platform-title">
            <a:extLst xmlns:a="http://schemas.openxmlformats.org/drawingml/2006/main">
              <a:ext uri="{FF2B5EF4-FFF2-40B4-BE49-F238E27FC236}">
                <a16:creationId xmlns:a16="http://schemas.microsoft.com/office/drawing/2014/main" id="{D889DDF3-7E12-4ABB-AF1C-B3124299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200400"/>
            <a:ext cx="552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Hetzner Cloud</a:t>
            </a:r>
          </a:p>
        </p:txBody>
      </p:sp>
      <p:sp>
        <p:nvSpPr>
          <p:cNvPr id="24" name="s1-platform-surfaces">
            <a:extLst xmlns:a="http://schemas.openxmlformats.org/drawingml/2006/main">
              <a:ext uri="{FF2B5EF4-FFF2-40B4-BE49-F238E27FC236}">
                <a16:creationId xmlns:a16="http://schemas.microsoft.com/office/drawing/2014/main" id="{5249642F-B25D-4BC1-8265-A97922D1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600450"/>
            <a:ext cx="552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42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Load Balancer   ·   2+ App-Container</a:t>
            </a:r>
          </a:p>
        </p:txBody>
      </p:sp>
      <p:sp>
        <p:nvSpPr>
          <p:cNvPr id="25" name="s1-platform-modules">
            <a:extLst xmlns:a="http://schemas.openxmlformats.org/drawingml/2006/main">
              <a:ext uri="{FF2B5EF4-FFF2-40B4-BE49-F238E27FC236}">
                <a16:creationId xmlns:a16="http://schemas.microsoft.com/office/drawing/2014/main" id="{6DDED27A-1D5B-4923-83A4-1C003BA7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981450"/>
            <a:ext cx="5524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275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Privates Netz · Next.js · Health Checks</a:t>
            </a:r>
          </a:p>
        </p:txBody>
      </p:sp>
      <p:sp>
        <p:nvSpPr>
          <p:cNvPr id="26" name="s1-ai-box">
            <a:extLst xmlns:a="http://schemas.openxmlformats.org/drawingml/2006/main">
              <a:ext uri="{FF2B5EF4-FFF2-40B4-BE49-F238E27FC236}">
                <a16:creationId xmlns:a16="http://schemas.microsoft.com/office/drawing/2014/main" id="{7C5D56CA-737E-44BA-9595-E10EC2FD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86125"/>
            <a:ext cx="1714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s1-ai-label">
            <a:extLst xmlns:a="http://schemas.openxmlformats.org/drawingml/2006/main">
              <a:ext uri="{FF2B5EF4-FFF2-40B4-BE49-F238E27FC236}">
                <a16:creationId xmlns:a16="http://schemas.microsoft.com/office/drawing/2014/main" id="{B14EF043-CE5A-4FDB-A334-1B74137C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324225"/>
            <a:ext cx="1562100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EXTERN</a:t>
            </a:r>
          </a:p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OIDC-Anbieter</a:t>
            </a:r>
          </a:p>
        </p:txBody>
      </p:sp>
      <p:sp>
        <p:nvSpPr>
          <p:cNvPr id="28" name="s1-oidc-box">
            <a:extLst xmlns:a="http://schemas.openxmlformats.org/drawingml/2006/main">
              <a:ext uri="{FF2B5EF4-FFF2-40B4-BE49-F238E27FC236}">
                <a16:creationId xmlns:a16="http://schemas.microsoft.com/office/drawing/2014/main" id="{CDE1DE6B-2C7F-4F30-909C-5D557298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0125"/>
            <a:ext cx="209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s1-oidc-label">
            <a:extLst xmlns:a="http://schemas.openxmlformats.org/drawingml/2006/main">
              <a:ext uri="{FF2B5EF4-FFF2-40B4-BE49-F238E27FC236}">
                <a16:creationId xmlns:a16="http://schemas.microsoft.com/office/drawing/2014/main" id="{F43EADB4-40E0-4891-83BC-6FFE4AE8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48225"/>
            <a:ext cx="19431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PostgreSQL</a:t>
            </a:r>
          </a:p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Primär + Standby</a:t>
            </a:r>
          </a:p>
        </p:txBody>
      </p:sp>
      <p:sp>
        <p:nvSpPr>
          <p:cNvPr id="30" name="s1-db-box">
            <a:extLst xmlns:a="http://schemas.openxmlformats.org/drawingml/2006/main">
              <a:ext uri="{FF2B5EF4-FFF2-40B4-BE49-F238E27FC236}">
                <a16:creationId xmlns:a16="http://schemas.microsoft.com/office/drawing/2014/main" id="{ADB2D8BC-BBF3-4FC0-81FF-FCAC145F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10125"/>
            <a:ext cx="209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s1-db-label">
            <a:extLst xmlns:a="http://schemas.openxmlformats.org/drawingml/2006/main">
              <a:ext uri="{FF2B5EF4-FFF2-40B4-BE49-F238E27FC236}">
                <a16:creationId xmlns:a16="http://schemas.microsoft.com/office/drawing/2014/main" id="{CA9112E2-A0E2-42C7-974F-C154D16B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848225"/>
            <a:ext cx="19431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Worker</a:t>
            </a:r>
          </a:p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selbes Image</a:t>
            </a:r>
          </a:p>
        </p:txBody>
      </p:sp>
      <p:sp>
        <p:nvSpPr>
          <p:cNvPr id="32" name="s1-storage-box">
            <a:extLst xmlns:a="http://schemas.openxmlformats.org/drawingml/2006/main">
              <a:ext uri="{FF2B5EF4-FFF2-40B4-BE49-F238E27FC236}">
                <a16:creationId xmlns:a16="http://schemas.microsoft.com/office/drawing/2014/main" id="{D211CD7E-D204-4747-8593-A9DFCA51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10125"/>
            <a:ext cx="209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s1-storage-label">
            <a:extLst xmlns:a="http://schemas.openxmlformats.org/drawingml/2006/main">
              <a:ext uri="{FF2B5EF4-FFF2-40B4-BE49-F238E27FC236}">
                <a16:creationId xmlns:a16="http://schemas.microsoft.com/office/drawing/2014/main" id="{251DE157-3610-4084-B91F-E379C673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48225"/>
            <a:ext cx="19431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Object Storage</a:t>
            </a:r>
          </a:p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S3-kompatibel</a:t>
            </a:r>
          </a:p>
        </p:txBody>
      </p:sp>
      <p:sp>
        <p:nvSpPr>
          <p:cNvPr id="34" name="s1-worker-box">
            <a:extLst xmlns:a="http://schemas.openxmlformats.org/drawingml/2006/main">
              <a:ext uri="{FF2B5EF4-FFF2-40B4-BE49-F238E27FC236}">
                <a16:creationId xmlns:a16="http://schemas.microsoft.com/office/drawing/2014/main" id="{EE5D9A55-3E06-4EC9-9DBA-2E7616BE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10125"/>
            <a:ext cx="209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s1-worker-label">
            <a:extLst xmlns:a="http://schemas.openxmlformats.org/drawingml/2006/main">
              <a:ext uri="{FF2B5EF4-FFF2-40B4-BE49-F238E27FC236}">
                <a16:creationId xmlns:a16="http://schemas.microsoft.com/office/drawing/2014/main" id="{BF606EA9-A3B2-4940-8637-B54CFCF2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848225"/>
            <a:ext cx="19431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Monitoring</a:t>
            </a:r>
          </a:p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Logs + Metriken</a:t>
            </a:r>
          </a:p>
        </p:txBody>
      </p:sp>
      <p:sp>
        <p:nvSpPr>
          <p:cNvPr id="36" name="s1-foundation">
            <a:extLst xmlns:a="http://schemas.openxmlformats.org/drawingml/2006/main">
              <a:ext uri="{FF2B5EF4-FFF2-40B4-BE49-F238E27FC236}">
                <a16:creationId xmlns:a16="http://schemas.microsoft.com/office/drawing/2014/main" id="{D3C8F5A5-17CE-490B-A3D2-EA607269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67375"/>
            <a:ext cx="10477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s1-foundation-label">
            <a:extLst xmlns:a="http://schemas.openxmlformats.org/drawingml/2006/main">
              <a:ext uri="{FF2B5EF4-FFF2-40B4-BE49-F238E27FC236}">
                <a16:creationId xmlns:a16="http://schemas.microsoft.com/office/drawing/2014/main" id="{CA03FABE-2C28-4142-ACCE-60BBF350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72150"/>
            <a:ext cx="10001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Hetzner NBG1/FSN1 · Firewalls · IaC · Backups · eigener OS-/DB-Betrieb</a:t>
            </a:r>
          </a:p>
        </p:txBody>
      </p:sp>
      <p:sp>
        <p:nvSpPr>
          <p:cNvPr id="38" name="source-1">
            <a:extLst xmlns:a="http://schemas.openxmlformats.org/drawingml/2006/main">
              <a:ext uri="{FF2B5EF4-FFF2-40B4-BE49-F238E27FC236}">
                <a16:creationId xmlns:a16="http://schemas.microsoft.com/office/drawing/2014/main" id="{A9448FF4-9B17-4119-8A11-0F31E5C0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34125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25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Scariev Lernplattform · Walkthrough · 19.07.2026</a:t>
            </a:r>
          </a:p>
        </p:txBody>
      </p:sp>
      <p:sp>
        <p:nvSpPr>
          <p:cNvPr id="39" name="page-1">
            <a:extLst xmlns:a="http://schemas.openxmlformats.org/drawingml/2006/main">
              <a:ext uri="{FF2B5EF4-FFF2-40B4-BE49-F238E27FC236}">
                <a16:creationId xmlns:a16="http://schemas.microsoft.com/office/drawing/2014/main" id="{23A2D950-0FB8-4E07-959F-9AD6FEF9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69409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3-title">
            <a:extLst xmlns:a="http://schemas.openxmlformats.org/drawingml/2006/main">
              <a:ext uri="{FF2B5EF4-FFF2-40B4-BE49-F238E27FC236}">
                <a16:creationId xmlns:a16="http://schemas.microsoft.com/office/drawing/2014/main" id="{D72FBB3F-D24B-437F-A552-73E45212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477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1.</a:t>
            </a:r>
            <a:r>
              <a:rPr sz="30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 Warum diese Architektur?</a:t>
            </a:r>
          </a:p>
        </p:txBody>
      </p:sp>
      <p:sp>
        <p:nvSpPr>
          <p:cNvPr id="8" name="s3-phase-1-a-label">
            <a:extLst xmlns:a="http://schemas.openxmlformats.org/drawingml/2006/main">
              <a:ext uri="{FF2B5EF4-FFF2-40B4-BE49-F238E27FC236}">
                <a16:creationId xmlns:a16="http://schemas.microsoft.com/office/drawing/2014/main" id="{323B35E9-BE10-4E6B-89E7-F89FBE3A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66725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2F7FC"/>
          </a:solidFill>
          <a:ln xmlns:a="http://schemas.openxmlformats.org/drawingml/2006/main" w="9525">
            <a:solidFill>
              <a:srgbClr val="D4E3F1"/>
            </a:solidFill>
            <a:prstDash val="solid"/>
          </a:ln>
        </p:spPr>
        <p:txBody>
          <a:bodyPr xmlns:a="http://schemas.openxmlformats.org/drawingml/2006/main" wrap="square" lIns="361950" tIns="285750" rIns="361950" bIns="285750" anchor="ctr">
            <a:noAutofit/>
          </a:bodyPr>
          <a:lstStyle xmlns:a="http://schemas.openxmlformats.org/drawingml/2006/main"/>
          <a:p xmlns:a="http://schemas.openxmlformats.org/drawingml/2006/main">
            <a:pPr marL="8" indent="1" algn="l">
              <a:spcAft>
                <a:spcPts val="22"/>
              </a:spcAft>
              <a:defRPr sz="1875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3B82F6"/>
                </a:solidFill>
              </a:rPr>
              <a:t>• </a:t>
            </a:r>
            <a:r>
              <a:rPr b="1">
                <a:solidFill>
                  <a:srgbClr val="3B82F6"/>
                </a:solidFill>
              </a:rPr>
              <a:t>2.000 gleichzeitig:</a:t>
            </a:r>
            <a:r>
              <a:rPr>
                <a:solidFill>
                  <a:srgbClr val="334155"/>
                </a:solidFill>
              </a:rPr>
              <a:t> Zustandslose App-Container und der Load Balancer ermöglichen horizontale Skalierung.</a:t>
            </a:r>
          </a:p>
          <a:p xmlns:a="http://schemas.openxmlformats.org/drawingml/2006/main">
            <a:pPr marL="8" indent="1" algn="l">
              <a:spcAft>
                <a:spcPts val="22"/>
              </a:spcAft>
              <a:defRPr sz="1875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3B82F6"/>
                </a:solidFill>
              </a:rPr>
              <a:t>• </a:t>
            </a:r>
            <a:r>
              <a:rPr b="1">
                <a:solidFill>
                  <a:srgbClr val="3B82F6"/>
                </a:solidFill>
              </a:rPr>
              <a:t>Feste Prüfungseditionen:</a:t>
            </a:r>
            <a:r>
              <a:rPr>
                <a:solidFill>
                  <a:srgbClr val="334155"/>
                </a:solidFill>
              </a:rPr>
              <a:t> PostgreSQL speichert Zugänge, Editionen und Versuche konsistent und nachvollziehbar.</a:t>
            </a:r>
          </a:p>
          <a:p xmlns:a="http://schemas.openxmlformats.org/drawingml/2006/main">
            <a:pPr marL="8" indent="1" algn="l">
              <a:spcAft>
                <a:spcPts val="22"/>
              </a:spcAft>
              <a:defRPr sz="1875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3B82F6"/>
                </a:solidFill>
              </a:rPr>
              <a:t>• </a:t>
            </a:r>
            <a:r>
              <a:rPr b="1">
                <a:solidFill>
                  <a:srgbClr val="3B82F6"/>
                </a:solidFill>
              </a:rPr>
              <a:t>Kauf und Printcode:</a:t>
            </a:r>
            <a:r>
              <a:rPr>
                <a:solidFill>
                  <a:srgbClr val="334155"/>
                </a:solidFill>
              </a:rPr>
              <a:t> Beide Wege nutzen dasselbe Berechtigungsmodell und vermeiden doppelte Fachlogik.</a:t>
            </a:r>
          </a:p>
          <a:p xmlns:a="http://schemas.openxmlformats.org/drawingml/2006/main">
            <a:pPr marL="8" indent="1" algn="l">
              <a:spcAft>
                <a:spcPts val="22"/>
              </a:spcAft>
              <a:defRPr sz="1875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3B82F6"/>
                </a:solidFill>
              </a:rPr>
              <a:t>• </a:t>
            </a:r>
            <a:r>
              <a:rPr b="1">
                <a:solidFill>
                  <a:srgbClr val="3B82F6"/>
                </a:solidFill>
              </a:rPr>
              <a:t>Einfacher Betrieb:</a:t>
            </a:r>
            <a:r>
              <a:rPr>
                <a:solidFill>
                  <a:srgbClr val="334155"/>
                </a:solidFill>
              </a:rPr>
              <a:t> Ein modularer Monolith reduziert Schnittstellen, Fehlerquellen und Betriebsaufwand.</a:t>
            </a:r>
          </a:p>
          <a:p xmlns:a="http://schemas.openxmlformats.org/drawingml/2006/main">
            <a:pPr marL="8" indent="1" algn="l">
              <a:spcAft>
                <a:spcPts val="22"/>
              </a:spcAft>
              <a:defRPr sz="1875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3B82F6"/>
                </a:solidFill>
              </a:rPr>
              <a:t>• </a:t>
            </a:r>
            <a:r>
              <a:rPr b="1">
                <a:solidFill>
                  <a:srgbClr val="3B82F6"/>
                </a:solidFill>
              </a:rPr>
              <a:t>Hosting bei Hetzner:</a:t>
            </a:r>
            <a:r>
              <a:rPr>
                <a:solidFill>
                  <a:srgbClr val="334155"/>
                </a:solidFill>
              </a:rPr>
              <a:t> Cloud Server, private Netze, Firewalls, Load Balancer und Object Storage decken die Anforderungen in der EU ab.</a:t>
            </a:r>
          </a:p>
        </p:txBody>
      </p:sp>
      <p:sp>
        <p:nvSpPr>
          <p:cNvPr id="34" name="source-3">
            <a:extLst xmlns:a="http://schemas.openxmlformats.org/drawingml/2006/main">
              <a:ext uri="{FF2B5EF4-FFF2-40B4-BE49-F238E27FC236}">
                <a16:creationId xmlns:a16="http://schemas.microsoft.com/office/drawing/2014/main" id="{628D0C86-1B4C-494F-B7BC-064E4034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34125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25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Scariev Lernplattform · Walkthrough · 19.07.2026</a:t>
            </a:r>
          </a:p>
        </p:txBody>
      </p:sp>
      <p:sp>
        <p:nvSpPr>
          <p:cNvPr id="35" name="page-3">
            <a:extLst xmlns:a="http://schemas.openxmlformats.org/drawingml/2006/main">
              <a:ext uri="{FF2B5EF4-FFF2-40B4-BE49-F238E27FC236}">
                <a16:creationId xmlns:a16="http://schemas.microsoft.com/office/drawing/2014/main" id="{0DABC8FB-05C2-43C4-A515-A487F65A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694168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2-title">
            <a:extLst xmlns:a="http://schemas.openxmlformats.org/drawingml/2006/main">
              <a:ext uri="{FF2B5EF4-FFF2-40B4-BE49-F238E27FC236}">
                <a16:creationId xmlns:a16="http://schemas.microsoft.com/office/drawing/2014/main" id="{C09711C2-1FAE-4C3A-ACC9-0BDE635E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477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2.</a:t>
            </a:r>
            <a:r>
              <a:rPr sz="30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 So funktioniert die Plattform</a:t>
            </a:r>
          </a:p>
        </p:txBody>
      </p:sp>
      <p:sp>
        <p:nvSpPr>
          <p:cNvPr id="18" name="s2-online-label">
            <a:extLst xmlns:a="http://schemas.openxmlformats.org/drawingml/2006/main">
              <a:ext uri="{FF2B5EF4-FFF2-40B4-BE49-F238E27FC236}">
                <a16:creationId xmlns:a16="http://schemas.microsoft.com/office/drawing/2014/main" id="{F4409777-7043-4D13-9122-23EA042D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66725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2F7FC"/>
          </a:solidFill>
          <a:ln xmlns:a="http://schemas.openxmlformats.org/drawingml/2006/main" w="9525">
            <a:solidFill>
              <a:srgbClr val="D4E3F1"/>
            </a:solidFill>
            <a:prstDash val="solid"/>
          </a:ln>
        </p:spPr>
        <p:txBody>
          <a:bodyPr xmlns:a="http://schemas.openxmlformats.org/drawingml/2006/main" wrap="square" lIns="361950" tIns="285750" rIns="361950" bIns="285750" anchor="ctr">
            <a:noAutofit/>
          </a:bodyPr>
          <a:lstStyle xmlns:a="http://schemas.openxmlformats.org/drawingml/2006/main"/>
          <a:p xmlns:a="http://schemas.openxmlformats.org/drawingml/2006/main">
            <a:pPr marL="8" indent="1" algn="l">
              <a:spcAft>
                <a:spcPts val="22"/>
              </a:spcAft>
              <a:defRPr sz="1875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3B82F6"/>
                </a:solidFill>
              </a:rPr>
              <a:t>• </a:t>
            </a:r>
            <a:r>
              <a:rPr b="1">
                <a:solidFill>
                  <a:srgbClr val="3B82F6"/>
                </a:solidFill>
              </a:rPr>
              <a:t>1. Anmeldung:</a:t>
            </a:r>
            <a:r>
              <a:rPr>
                <a:solidFill>
                  <a:srgbClr val="334155"/>
                </a:solidFill>
              </a:rPr>
              <a:t> Der Nutzer meldet sich über OIDC an; Rollen und MFA schützen administrative Funktionen.</a:t>
            </a:r>
          </a:p>
          <a:p xmlns:a="http://schemas.openxmlformats.org/drawingml/2006/main">
            <a:pPr marL="8" indent="1" algn="l">
              <a:spcAft>
                <a:spcPts val="22"/>
              </a:spcAft>
              <a:defRPr sz="1875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3B82F6"/>
                </a:solidFill>
              </a:rPr>
              <a:t>• </a:t>
            </a:r>
            <a:r>
              <a:rPr b="1">
                <a:solidFill>
                  <a:srgbClr val="3B82F6"/>
                </a:solidFill>
              </a:rPr>
              <a:t>2. Zugang prüfen:</a:t>
            </a:r>
            <a:r>
              <a:rPr>
                <a:solidFill>
                  <a:srgbClr val="334155"/>
                </a:solidFill>
              </a:rPr>
              <a:t> Eine bestätigte Zahlung oder ein einmaliger Printcode erzeugt die Lernberechtigung.</a:t>
            </a:r>
          </a:p>
          <a:p xmlns:a="http://schemas.openxmlformats.org/drawingml/2006/main">
            <a:pPr marL="8" indent="1" algn="l">
              <a:spcAft>
                <a:spcPts val="22"/>
              </a:spcAft>
              <a:defRPr sz="1875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3B82F6"/>
                </a:solidFill>
              </a:rPr>
              <a:t>• </a:t>
            </a:r>
            <a:r>
              <a:rPr b="1">
                <a:solidFill>
                  <a:srgbClr val="3B82F6"/>
                </a:solidFill>
              </a:rPr>
              <a:t>3. Edition festlegen:</a:t>
            </a:r>
            <a:r>
              <a:rPr>
                <a:solidFill>
                  <a:srgbClr val="334155"/>
                </a:solidFill>
              </a:rPr>
              <a:t> Start, Ende und freigegebene Prüfungsedition werden eindeutig gespeichert.</a:t>
            </a:r>
          </a:p>
          <a:p xmlns:a="http://schemas.openxmlformats.org/drawingml/2006/main">
            <a:pPr marL="8" indent="1" algn="l">
              <a:spcAft>
                <a:spcPts val="22"/>
              </a:spcAft>
              <a:defRPr sz="1875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3B82F6"/>
                </a:solidFill>
              </a:rPr>
              <a:t>• </a:t>
            </a:r>
            <a:r>
              <a:rPr b="1">
                <a:solidFill>
                  <a:srgbClr val="3B82F6"/>
                </a:solidFill>
              </a:rPr>
              <a:t>4. Inhalte ausliefern:</a:t>
            </a:r>
            <a:r>
              <a:rPr>
                <a:solidFill>
                  <a:srgbClr val="334155"/>
                </a:solidFill>
              </a:rPr>
              <a:t> App-Container liefern Fragen aus; Medien kommen aus dem Object Storage.</a:t>
            </a:r>
          </a:p>
          <a:p xmlns:a="http://schemas.openxmlformats.org/drawingml/2006/main">
            <a:pPr marL="8" indent="1" algn="l">
              <a:spcAft>
                <a:spcPts val="22"/>
              </a:spcAft>
              <a:defRPr sz="1875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3B82F6"/>
                </a:solidFill>
              </a:rPr>
              <a:t>• </a:t>
            </a:r>
            <a:r>
              <a:rPr b="1">
                <a:solidFill>
                  <a:srgbClr val="3B82F6"/>
                </a:solidFill>
              </a:rPr>
              <a:t>5. Fortschritt sichern:</a:t>
            </a:r>
            <a:r>
              <a:rPr>
                <a:solidFill>
                  <a:srgbClr val="334155"/>
                </a:solidFill>
              </a:rPr>
              <a:t> PostgreSQL speichert Antworten und Lernstand dauerhaft und prüfbar.</a:t>
            </a:r>
          </a:p>
        </p:txBody>
      </p:sp>
      <p:sp>
        <p:nvSpPr>
          <p:cNvPr id="49" name="source-2">
            <a:extLst xmlns:a="http://schemas.openxmlformats.org/drawingml/2006/main">
              <a:ext uri="{FF2B5EF4-FFF2-40B4-BE49-F238E27FC236}">
                <a16:creationId xmlns:a16="http://schemas.microsoft.com/office/drawing/2014/main" id="{BC5A02BC-C55E-408D-83F0-0B17FD63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34125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25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Scariev Lernplattform · Walkthrough · 19.07.2026</a:t>
            </a:r>
          </a:p>
        </p:txBody>
      </p:sp>
      <p:sp>
        <p:nvSpPr>
          <p:cNvPr id="50" name="page-2">
            <a:extLst xmlns:a="http://schemas.openxmlformats.org/drawingml/2006/main">
              <a:ext uri="{FF2B5EF4-FFF2-40B4-BE49-F238E27FC236}">
                <a16:creationId xmlns:a16="http://schemas.microsoft.com/office/drawing/2014/main" id="{DD521249-62CF-4506-9EF1-400B8FE6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193436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3-title">
            <a:extLst xmlns:a="http://schemas.openxmlformats.org/drawingml/2006/main">
              <a:ext uri="{FF2B5EF4-FFF2-40B4-BE49-F238E27FC236}">
                <a16:creationId xmlns:a16="http://schemas.microsoft.com/office/drawing/2014/main" id="{D72FBB3F-D24B-437F-A552-73E45212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477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30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3B82F6"/>
                </a:solidFill>
                <a:latin typeface="Helvetica Neue"/>
                <a:ea typeface="Helvetica Neue"/>
                <a:cs typeface="Helvetica Neue"/>
              </a:rPr>
              <a:t>3.</a:t>
            </a:r>
            <a:r>
              <a:rPr sz="3000" b="1">
                <a:solidFill>
                  <a:srgbClr val="0F172A"/>
                </a:solidFill>
                <a:latin typeface="Helvetica Neue"/>
                <a:ea typeface="Helvetica Neue"/>
                <a:cs typeface="Helvetica Neue"/>
              </a:rPr>
              <a:t> So setzen wir sie um</a:t>
            </a:r>
          </a:p>
        </p:txBody>
      </p:sp>
      <p:sp>
        <p:nvSpPr>
          <p:cNvPr id="8" name="s3-phase-1-a-label">
            <a:extLst xmlns:a="http://schemas.openxmlformats.org/drawingml/2006/main">
              <a:ext uri="{FF2B5EF4-FFF2-40B4-BE49-F238E27FC236}">
                <a16:creationId xmlns:a16="http://schemas.microsoft.com/office/drawing/2014/main" id="{323B35E9-BE10-4E6B-89E7-F89FBE3A4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66725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2F7FC"/>
          </a:solidFill>
          <a:ln xmlns:a="http://schemas.openxmlformats.org/drawingml/2006/main" w="9525">
            <a:solidFill>
              <a:srgbClr val="D4E3F1"/>
            </a:solidFill>
            <a:prstDash val="solid"/>
          </a:ln>
        </p:spPr>
        <p:txBody>
          <a:bodyPr xmlns:a="http://schemas.openxmlformats.org/drawingml/2006/main" wrap="square" lIns="361950" tIns="285750" rIns="361950" bIns="285750" anchor="ctr">
            <a:noAutofit/>
          </a:bodyPr>
          <a:lstStyle xmlns:a="http://schemas.openxmlformats.org/drawingml/2006/main"/>
          <a:p xmlns:a="http://schemas.openxmlformats.org/drawingml/2006/main">
            <a:pPr marL="8" indent="1" algn="l">
              <a:spcAft>
                <a:spcPts val="22"/>
              </a:spcAft>
              <a:defRPr sz="1875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3B82F6"/>
                </a:solidFill>
              </a:rPr>
              <a:t>• </a:t>
            </a:r>
            <a:r>
              <a:rPr b="1">
                <a:solidFill>
                  <a:srgbClr val="3B82F6"/>
                </a:solidFill>
              </a:rPr>
              <a:t>1. Grundlage:</a:t>
            </a:r>
            <a:r>
              <a:rPr>
                <a:solidFill>
                  <a:srgbClr val="334155"/>
                </a:solidFill>
              </a:rPr>
              <a:t> Hetzner, Netzwerk, Firewalls, CI/CD, OIDC und Rollen einrichten.</a:t>
            </a:r>
          </a:p>
          <a:p xmlns:a="http://schemas.openxmlformats.org/drawingml/2006/main">
            <a:pPr marL="8" indent="1" algn="l">
              <a:spcAft>
                <a:spcPts val="22"/>
              </a:spcAft>
              <a:defRPr sz="1875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3B82F6"/>
                </a:solidFill>
              </a:rPr>
              <a:t>• </a:t>
            </a:r>
            <a:r>
              <a:rPr b="1">
                <a:solidFill>
                  <a:srgbClr val="3B82F6"/>
                </a:solidFill>
              </a:rPr>
              <a:t>2. MVP:</a:t>
            </a:r>
            <a:r>
              <a:rPr>
                <a:solidFill>
                  <a:srgbClr val="334155"/>
                </a:solidFill>
              </a:rPr>
              <a:t> Zugang, Lernen, Fortschritt, Kauf und Printcodes umsetzen.</a:t>
            </a:r>
          </a:p>
          <a:p xmlns:a="http://schemas.openxmlformats.org/drawingml/2006/main">
            <a:pPr marL="8" indent="1" algn="l">
              <a:spcAft>
                <a:spcPts val="22"/>
              </a:spcAft>
              <a:defRPr sz="1875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3B82F6"/>
                </a:solidFill>
              </a:rPr>
              <a:t>• </a:t>
            </a:r>
            <a:r>
              <a:rPr b="1">
                <a:solidFill>
                  <a:srgbClr val="3B82F6"/>
                </a:solidFill>
              </a:rPr>
              <a:t>3. Migration:</a:t>
            </a:r>
            <a:r>
              <a:rPr>
                <a:solidFill>
                  <a:srgbClr val="334155"/>
                </a:solidFill>
              </a:rPr>
              <a:t> Moodle-Inhalte mehrfach importieren, prüfen, versionieren und freigeben.</a:t>
            </a:r>
          </a:p>
          <a:p xmlns:a="http://schemas.openxmlformats.org/drawingml/2006/main">
            <a:pPr marL="8" indent="1" algn="l">
              <a:spcAft>
                <a:spcPts val="22"/>
              </a:spcAft>
              <a:defRPr sz="1875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3B82F6"/>
                </a:solidFill>
              </a:rPr>
              <a:t>• </a:t>
            </a:r>
            <a:r>
              <a:rPr b="1">
                <a:solidFill>
                  <a:srgbClr val="3B82F6"/>
                </a:solidFill>
              </a:rPr>
              <a:t>4. Abnahme:</a:t>
            </a:r>
            <a:r>
              <a:rPr>
                <a:solidFill>
                  <a:srgbClr val="334155"/>
                </a:solidFill>
              </a:rPr>
              <a:t> Sicherheit, Last, Backups und Wiederherstellung testen.</a:t>
            </a:r>
          </a:p>
          <a:p xmlns:a="http://schemas.openxmlformats.org/drawingml/2006/main">
            <a:pPr marL="8" indent="1" algn="l">
              <a:spcAft>
                <a:spcPts val="22"/>
              </a:spcAft>
              <a:defRPr sz="1875">
                <a:solidFill>
                  <a:srgbClr val="334155"/>
                </a:solidFill>
                <a:latin typeface="Helvetica Neue"/>
                <a:ea typeface="Helvetica Neue"/>
                <a:cs typeface="Helvetica Neue"/>
              </a:defRPr>
            </a:pPr>
            <a:r>
              <a:rPr b="1">
                <a:solidFill>
                  <a:srgbClr val="3B82F6"/>
                </a:solidFill>
              </a:rPr>
              <a:t>• </a:t>
            </a:r>
            <a:r>
              <a:rPr b="1">
                <a:solidFill>
                  <a:srgbClr val="3B82F6"/>
                </a:solidFill>
              </a:rPr>
              <a:t>5. Go-live:</a:t>
            </a:r>
            <a:r>
              <a:rPr>
                <a:solidFill>
                  <a:srgbClr val="334155"/>
                </a:solidFill>
              </a:rPr>
              <a:t> Pilot durchführen, Inhalte final abgleichen, migrieren und Rückfalloption bereithalten.</a:t>
            </a:r>
          </a:p>
        </p:txBody>
      </p:sp>
      <p:sp>
        <p:nvSpPr>
          <p:cNvPr id="34" name="source-3">
            <a:extLst xmlns:a="http://schemas.openxmlformats.org/drawingml/2006/main">
              <a:ext uri="{FF2B5EF4-FFF2-40B4-BE49-F238E27FC236}">
                <a16:creationId xmlns:a16="http://schemas.microsoft.com/office/drawing/2014/main" id="{628D0C86-1B4C-494F-B7BC-064E40349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34125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25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Scariev Lernplattform · Walkthrough · 19.07.2026</a:t>
            </a:r>
          </a:p>
        </p:txBody>
      </p:sp>
      <p:sp>
        <p:nvSpPr>
          <p:cNvPr id="35" name="page-3">
            <a:extLst xmlns:a="http://schemas.openxmlformats.org/drawingml/2006/main">
              <a:ext uri="{FF2B5EF4-FFF2-40B4-BE49-F238E27FC236}">
                <a16:creationId xmlns:a16="http://schemas.microsoft.com/office/drawing/2014/main" id="{0DABC8FB-05C2-43C4-A515-A487F65A6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694168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2026-07-19T15:32:46.8610000Z</dcterms:created>
  <dcterms:modified xsi:type="dcterms:W3CDTF">2026-07-19T15:32:46.8610000Z</dcterms:modified>
</coreProperties>
</file>